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62" r:id="rId3"/>
    <p:sldId id="266" r:id="rId4"/>
    <p:sldId id="267" r:id="rId5"/>
    <p:sldId id="265" r:id="rId6"/>
    <p:sldId id="256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E32"/>
    <a:srgbClr val="3F007E"/>
    <a:srgbClr val="E8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F8FB6-2D55-4611-BFDA-A9476DCB3727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06350-5D0C-4741-94A4-8476525C48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81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gnment p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8877" y="1107805"/>
            <a:ext cx="11346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Assignment part 2: Create a Summary Sheet</a:t>
            </a:r>
            <a:endParaRPr lang="en-US" sz="3200" b="1" dirty="0"/>
          </a:p>
        </p:txBody>
      </p:sp>
      <p:sp>
        <p:nvSpPr>
          <p:cNvPr id="7" name="Rectangle 6"/>
          <p:cNvSpPr/>
          <p:nvPr userDrawn="1"/>
        </p:nvSpPr>
        <p:spPr>
          <a:xfrm>
            <a:off x="358877" y="1727973"/>
            <a:ext cx="112524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Instructions: </a:t>
            </a:r>
            <a:r>
              <a:rPr lang="en-US" dirty="0" smtClean="0"/>
              <a:t>Summarize </a:t>
            </a:r>
            <a:r>
              <a:rPr lang="en-US" dirty="0"/>
              <a:t>the detailed analysis you completed in the first part of the assignment. </a:t>
            </a:r>
            <a:br>
              <a:rPr lang="en-US" dirty="0"/>
            </a:b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In each row, place the </a:t>
            </a:r>
            <a:r>
              <a:rPr lang="en-US" dirty="0" smtClean="0"/>
              <a:t>        to reflect your analysis of the current state of the industry. </a:t>
            </a:r>
            <a:br>
              <a:rPr lang="en-US" dirty="0" smtClean="0"/>
            </a:br>
            <a:endParaRPr lang="en-US" dirty="0" smtClean="0"/>
          </a:p>
          <a:p>
            <a:pPr marL="342900" indent="-342900">
              <a:buAutoNum type="arabicParenR"/>
            </a:pPr>
            <a:r>
              <a:rPr lang="en-US" dirty="0" smtClean="0"/>
              <a:t>Next, think about how the industry might evolve for each factor, and place the        in the appropriate place in the </a:t>
            </a:r>
            <a:r>
              <a:rPr lang="en-US" i="1" dirty="0" smtClean="0"/>
              <a:t>Future of the industry </a:t>
            </a:r>
            <a:r>
              <a:rPr lang="en-US" dirty="0" smtClean="0"/>
              <a:t>area of the table.</a:t>
            </a:r>
            <a:br>
              <a:rPr lang="en-US" dirty="0" smtClean="0"/>
            </a:br>
            <a:endParaRPr lang="en-US" dirty="0"/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783" y="2317101"/>
            <a:ext cx="329213" cy="3535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755" y="2843834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0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9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203534" y="127308"/>
            <a:ext cx="11346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Summary Sheet </a:t>
            </a:r>
            <a:endParaRPr lang="en-US" sz="2400" b="1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154644" y="776994"/>
            <a:ext cx="1524384" cy="249435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Icon Bank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drag these icons and drop them into the tables.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Attractivne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 userDrawn="1"/>
        </p:nvSpPr>
        <p:spPr>
          <a:xfrm>
            <a:off x="2672195" y="20574"/>
            <a:ext cx="9265464" cy="12178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Attractiveness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222550" y="1080214"/>
            <a:ext cx="8037192" cy="144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23121095"/>
              </p:ext>
            </p:extLst>
          </p:nvPr>
        </p:nvGraphicFramePr>
        <p:xfrm>
          <a:off x="197096" y="1914558"/>
          <a:ext cx="11657074" cy="457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Availability of close substitutes</a:t>
                      </a:r>
                    </a:p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products or services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Left-Right Arrow 8"/>
          <p:cNvSpPr/>
          <p:nvPr userDrawn="1"/>
        </p:nvSpPr>
        <p:spPr>
          <a:xfrm>
            <a:off x="3241537" y="1989841"/>
            <a:ext cx="8037192" cy="265412"/>
          </a:xfrm>
          <a:prstGeom prst="leftRightArrow">
            <a:avLst/>
          </a:prstGeom>
          <a:solidFill>
            <a:srgbClr val="3F0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3222550" y="730349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9791792" y="716266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940178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8104644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6944542" y="730347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113607" y="1539959"/>
            <a:ext cx="3108943" cy="374599"/>
          </a:xfrm>
          <a:prstGeom prst="roundRect">
            <a:avLst/>
          </a:prstGeom>
          <a:solidFill>
            <a:srgbClr val="3F007E"/>
          </a:solidFill>
          <a:ln>
            <a:solidFill>
              <a:srgbClr val="3F007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5: Substitutes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3382196" y="1586769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substitutes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val 16"/>
          <p:cNvSpPr/>
          <p:nvPr userDrawn="1"/>
        </p:nvSpPr>
        <p:spPr>
          <a:xfrm>
            <a:off x="9986979" y="1588883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 substitutes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13540235"/>
              </p:ext>
            </p:extLst>
          </p:nvPr>
        </p:nvGraphicFramePr>
        <p:xfrm>
          <a:off x="197096" y="3660372"/>
          <a:ext cx="11657074" cy="45217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regulatory changes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Left-Right Arrow 18"/>
          <p:cNvSpPr/>
          <p:nvPr userDrawn="1"/>
        </p:nvSpPr>
        <p:spPr>
          <a:xfrm>
            <a:off x="3241537" y="3735655"/>
            <a:ext cx="8037192" cy="265412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/>
          <p:cNvSpPr/>
          <p:nvPr userDrawn="1"/>
        </p:nvSpPr>
        <p:spPr>
          <a:xfrm>
            <a:off x="113607" y="3285773"/>
            <a:ext cx="3108943" cy="37459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6: Regulatory Factors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/>
          <p:cNvSpPr/>
          <p:nvPr userDrawn="1"/>
        </p:nvSpPr>
        <p:spPr>
          <a:xfrm>
            <a:off x="3382196" y="3332583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9986979" y="3334697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5412506"/>
              </p:ext>
            </p:extLst>
          </p:nvPr>
        </p:nvGraphicFramePr>
        <p:xfrm>
          <a:off x="178109" y="5515553"/>
          <a:ext cx="11657074" cy="78276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782769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 firms have exclusive relationships</a:t>
                      </a:r>
                      <a:b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</a:t>
                      </a:r>
                      <a:r>
                        <a:rPr lang="en-US" sz="1200" b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complementors</a:t>
                      </a: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vs. we have </a:t>
                      </a:r>
                      <a:b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these relationships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Left-Right Arrow 23"/>
          <p:cNvSpPr/>
          <p:nvPr userDrawn="1"/>
        </p:nvSpPr>
        <p:spPr>
          <a:xfrm>
            <a:off x="3222550" y="5768542"/>
            <a:ext cx="8037192" cy="265412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24"/>
          <p:cNvSpPr/>
          <p:nvPr userDrawn="1"/>
        </p:nvSpPr>
        <p:spPr>
          <a:xfrm>
            <a:off x="94620" y="5140955"/>
            <a:ext cx="3108943" cy="37459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7: </a:t>
            </a:r>
            <a:r>
              <a:rPr lang="en-US" sz="12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Complementors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3363209" y="5187765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val 26"/>
          <p:cNvSpPr/>
          <p:nvPr userDrawn="1"/>
        </p:nvSpPr>
        <p:spPr>
          <a:xfrm>
            <a:off x="9967992" y="5189879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2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Attractivens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 userDrawn="1"/>
        </p:nvSpPr>
        <p:spPr>
          <a:xfrm>
            <a:off x="2672195" y="20574"/>
            <a:ext cx="9265464" cy="12178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Attractiveness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222550" y="1080214"/>
            <a:ext cx="8037192" cy="144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3222550" y="730349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9791792" y="716266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4940178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04644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944542" y="730347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94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1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9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01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6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1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8877" y="1107805"/>
            <a:ext cx="11346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Assignment part 1: Analyze Your Industry’s Attractiveness </a:t>
            </a:r>
            <a:endParaRPr lang="en-US" sz="3200" b="1" dirty="0"/>
          </a:p>
        </p:txBody>
      </p:sp>
      <p:sp>
        <p:nvSpPr>
          <p:cNvPr id="7" name="Rectangle 6"/>
          <p:cNvSpPr/>
          <p:nvPr userDrawn="1"/>
        </p:nvSpPr>
        <p:spPr>
          <a:xfrm>
            <a:off x="358877" y="1727973"/>
            <a:ext cx="11252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Instructions: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Begin on the next slide. Analyze your industry’s attractiveness. For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factor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industry attractiveness, move the     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appropriate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place on the arrow.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258" y="2051138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20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Attractiven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ounded Rectangle 4"/>
          <p:cNvSpPr/>
          <p:nvPr userDrawn="1"/>
        </p:nvSpPr>
        <p:spPr>
          <a:xfrm>
            <a:off x="2672195" y="20574"/>
            <a:ext cx="9265464" cy="12178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Attractiveness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22550" y="1080214"/>
            <a:ext cx="8037192" cy="144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04177918"/>
              </p:ext>
            </p:extLst>
          </p:nvPr>
        </p:nvGraphicFramePr>
        <p:xfrm>
          <a:off x="197096" y="1701495"/>
          <a:ext cx="11657074" cy="226088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 of key customers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sensitivity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 costs (technical)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 costs (brand)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Ability to backward integrate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Left-Right Arrow 7"/>
          <p:cNvSpPr/>
          <p:nvPr userDrawn="1"/>
        </p:nvSpPr>
        <p:spPr>
          <a:xfrm>
            <a:off x="3241537" y="1776778"/>
            <a:ext cx="8037192" cy="265412"/>
          </a:xfrm>
          <a:prstGeom prst="left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766793" y="181114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206003" y="1811140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eft-Right Arrow 10"/>
          <p:cNvSpPr/>
          <p:nvPr userDrawn="1"/>
        </p:nvSpPr>
        <p:spPr>
          <a:xfrm>
            <a:off x="3222550" y="2258031"/>
            <a:ext cx="8037192" cy="265176"/>
          </a:xfrm>
          <a:prstGeom prst="leftRightArrow">
            <a:avLst/>
          </a:prstGeom>
          <a:solidFill>
            <a:srgbClr val="002060"/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2766793" y="2275185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206003" y="2275184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eft-Right Arrow 13"/>
          <p:cNvSpPr/>
          <p:nvPr userDrawn="1"/>
        </p:nvSpPr>
        <p:spPr>
          <a:xfrm>
            <a:off x="3222550" y="2722887"/>
            <a:ext cx="8037192" cy="265176"/>
          </a:xfrm>
          <a:prstGeom prst="left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Left-Right Arrow 14"/>
          <p:cNvSpPr/>
          <p:nvPr userDrawn="1"/>
        </p:nvSpPr>
        <p:spPr>
          <a:xfrm>
            <a:off x="3222550" y="3171165"/>
            <a:ext cx="8037192" cy="265176"/>
          </a:xfrm>
          <a:prstGeom prst="leftRightArrow">
            <a:avLst/>
          </a:prstGeom>
          <a:solidFill>
            <a:srgbClr val="002060"/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eft-Right Arrow 15"/>
          <p:cNvSpPr/>
          <p:nvPr userDrawn="1"/>
        </p:nvSpPr>
        <p:spPr>
          <a:xfrm>
            <a:off x="3222550" y="3603869"/>
            <a:ext cx="8037192" cy="265176"/>
          </a:xfrm>
          <a:prstGeom prst="left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2766792" y="273618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2766791" y="319617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2766791" y="3621547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227658" y="2736180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11232320" y="3179023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214830" y="3624857"/>
            <a:ext cx="712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Difficult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3222550" y="730349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9791792" y="716266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 userDrawn="1"/>
        </p:nvSpPr>
        <p:spPr>
          <a:xfrm>
            <a:off x="4940178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8104644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6944542" y="730347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9732078"/>
              </p:ext>
            </p:extLst>
          </p:nvPr>
        </p:nvGraphicFramePr>
        <p:xfrm>
          <a:off x="229180" y="4526536"/>
          <a:ext cx="11657074" cy="2260885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 of key suppliers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 sensitivity</a:t>
                      </a:r>
                      <a:endParaRPr lang="en-US" sz="12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 switching costs (technical)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Your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witching costs (brand)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Ability to forward integrate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Left-Right Arrow 28"/>
          <p:cNvSpPr/>
          <p:nvPr userDrawn="1"/>
        </p:nvSpPr>
        <p:spPr>
          <a:xfrm>
            <a:off x="3254634" y="4619028"/>
            <a:ext cx="8037192" cy="265176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2798877" y="4636182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1238087" y="463618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eft-Right Arrow 31"/>
          <p:cNvSpPr/>
          <p:nvPr userDrawn="1"/>
        </p:nvSpPr>
        <p:spPr>
          <a:xfrm>
            <a:off x="3254634" y="5083072"/>
            <a:ext cx="8037192" cy="265176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 userDrawn="1"/>
        </p:nvSpPr>
        <p:spPr>
          <a:xfrm>
            <a:off x="2798877" y="5100226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11238087" y="5100225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eft-Right Arrow 34"/>
          <p:cNvSpPr/>
          <p:nvPr userDrawn="1"/>
        </p:nvSpPr>
        <p:spPr>
          <a:xfrm>
            <a:off x="3254634" y="5547928"/>
            <a:ext cx="8037192" cy="265176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eft-Right Arrow 35"/>
          <p:cNvSpPr/>
          <p:nvPr userDrawn="1"/>
        </p:nvSpPr>
        <p:spPr>
          <a:xfrm>
            <a:off x="3235647" y="5978669"/>
            <a:ext cx="8037192" cy="265176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eft-Right Arrow 36"/>
          <p:cNvSpPr/>
          <p:nvPr userDrawn="1"/>
        </p:nvSpPr>
        <p:spPr>
          <a:xfrm>
            <a:off x="3254634" y="6428910"/>
            <a:ext cx="8037192" cy="265176"/>
          </a:xfrm>
          <a:prstGeom prst="left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2798876" y="5561222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 userDrawn="1"/>
        </p:nvSpPr>
        <p:spPr>
          <a:xfrm>
            <a:off x="2798875" y="6021212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2798875" y="6446588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 userDrawn="1"/>
        </p:nvSpPr>
        <p:spPr>
          <a:xfrm>
            <a:off x="11259742" y="556122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11264404" y="6004064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/>
          <p:cNvSpPr txBox="1"/>
          <p:nvPr userDrawn="1"/>
        </p:nvSpPr>
        <p:spPr>
          <a:xfrm>
            <a:off x="11236754" y="6449898"/>
            <a:ext cx="712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Difficult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ounded Rectangle 43"/>
          <p:cNvSpPr/>
          <p:nvPr userDrawn="1"/>
        </p:nvSpPr>
        <p:spPr>
          <a:xfrm>
            <a:off x="113607" y="1326896"/>
            <a:ext cx="3108943" cy="374599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Factor 1: Threat of Value Appropriation by Customers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/>
          <p:cNvSpPr/>
          <p:nvPr userDrawn="1"/>
        </p:nvSpPr>
        <p:spPr>
          <a:xfrm>
            <a:off x="126704" y="4162060"/>
            <a:ext cx="3108943" cy="37459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Factor 2: Threat of Value Appropriation by Suppliers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Oval 47"/>
          <p:cNvSpPr/>
          <p:nvPr userDrawn="1"/>
        </p:nvSpPr>
        <p:spPr>
          <a:xfrm>
            <a:off x="3308373" y="4228664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supplier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/>
          <p:cNvSpPr/>
          <p:nvPr userDrawn="1"/>
        </p:nvSpPr>
        <p:spPr>
          <a:xfrm>
            <a:off x="9985936" y="4201734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supplier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Oval 51"/>
          <p:cNvSpPr/>
          <p:nvPr userDrawn="1"/>
        </p:nvSpPr>
        <p:spPr>
          <a:xfrm>
            <a:off x="9986979" y="1375820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customer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Oval 52"/>
          <p:cNvSpPr/>
          <p:nvPr userDrawn="1"/>
        </p:nvSpPr>
        <p:spPr>
          <a:xfrm>
            <a:off x="3382196" y="1373706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customer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511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58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0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62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25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Attractiven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50"/>
          <p:cNvSpPr/>
          <p:nvPr userDrawn="1"/>
        </p:nvSpPr>
        <p:spPr>
          <a:xfrm>
            <a:off x="2672195" y="20574"/>
            <a:ext cx="9265464" cy="121782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Attractiveness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2" name="Straight Connector 51"/>
          <p:cNvCxnSpPr/>
          <p:nvPr userDrawn="1"/>
        </p:nvCxnSpPr>
        <p:spPr>
          <a:xfrm>
            <a:off x="3222550" y="1080214"/>
            <a:ext cx="8037192" cy="1442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5937461"/>
              </p:ext>
            </p:extLst>
          </p:nvPr>
        </p:nvGraphicFramePr>
        <p:xfrm>
          <a:off x="197096" y="1701495"/>
          <a:ext cx="11657074" cy="226088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effective competitors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growth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Degree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differentiation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Strategic stakes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Patents protect profits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Left-Right Arrow 53"/>
          <p:cNvSpPr/>
          <p:nvPr userDrawn="1"/>
        </p:nvSpPr>
        <p:spPr>
          <a:xfrm>
            <a:off x="3241537" y="1776778"/>
            <a:ext cx="8037192" cy="265412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 userDrawn="1"/>
        </p:nvSpPr>
        <p:spPr>
          <a:xfrm>
            <a:off x="2672197" y="1779609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 userDrawn="1"/>
        </p:nvSpPr>
        <p:spPr>
          <a:xfrm>
            <a:off x="11206003" y="1779608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eft-Right Arrow 56"/>
          <p:cNvSpPr/>
          <p:nvPr userDrawn="1"/>
        </p:nvSpPr>
        <p:spPr>
          <a:xfrm>
            <a:off x="3222550" y="2258031"/>
            <a:ext cx="8037192" cy="265176"/>
          </a:xfrm>
          <a:prstGeom prst="leftRightArrow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2672197" y="2243653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11206003" y="2243652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eft-Right Arrow 59"/>
          <p:cNvSpPr/>
          <p:nvPr userDrawn="1"/>
        </p:nvSpPr>
        <p:spPr>
          <a:xfrm>
            <a:off x="3222550" y="2722887"/>
            <a:ext cx="8037192" cy="265176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eft-Right Arrow 60"/>
          <p:cNvSpPr/>
          <p:nvPr userDrawn="1"/>
        </p:nvSpPr>
        <p:spPr>
          <a:xfrm>
            <a:off x="3222550" y="3171165"/>
            <a:ext cx="8037192" cy="265176"/>
          </a:xfrm>
          <a:prstGeom prst="leftRightArrow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Left-Right Arrow 61"/>
          <p:cNvSpPr/>
          <p:nvPr userDrawn="1"/>
        </p:nvSpPr>
        <p:spPr>
          <a:xfrm>
            <a:off x="3222550" y="3603869"/>
            <a:ext cx="8037192" cy="265176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2672196" y="2704649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 userDrawn="1"/>
        </p:nvSpPr>
        <p:spPr>
          <a:xfrm>
            <a:off x="2672195" y="3164639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 userDrawn="1"/>
        </p:nvSpPr>
        <p:spPr>
          <a:xfrm>
            <a:off x="2704279" y="3590015"/>
            <a:ext cx="645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/>
          <p:cNvSpPr txBox="1"/>
          <p:nvPr userDrawn="1"/>
        </p:nvSpPr>
        <p:spPr>
          <a:xfrm>
            <a:off x="11227658" y="2704648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 userDrawn="1"/>
        </p:nvSpPr>
        <p:spPr>
          <a:xfrm>
            <a:off x="11232320" y="3147491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Box 67"/>
          <p:cNvSpPr txBox="1"/>
          <p:nvPr userDrawn="1"/>
        </p:nvSpPr>
        <p:spPr>
          <a:xfrm>
            <a:off x="11214830" y="3593325"/>
            <a:ext cx="712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/>
          <p:cNvSpPr txBox="1"/>
          <p:nvPr userDrawn="1"/>
        </p:nvSpPr>
        <p:spPr>
          <a:xfrm>
            <a:off x="3222550" y="730349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 userDrawn="1"/>
        </p:nvSpPr>
        <p:spPr>
          <a:xfrm>
            <a:off x="9791792" y="716266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Highly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/>
          <p:cNvSpPr txBox="1"/>
          <p:nvPr userDrawn="1"/>
        </p:nvSpPr>
        <p:spPr>
          <a:xfrm>
            <a:off x="4940178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Unattractive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/>
          <p:cNvSpPr txBox="1"/>
          <p:nvPr userDrawn="1"/>
        </p:nvSpPr>
        <p:spPr>
          <a:xfrm>
            <a:off x="8104644" y="719161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Mildly Attractive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 userDrawn="1"/>
        </p:nvSpPr>
        <p:spPr>
          <a:xfrm>
            <a:off x="6944542" y="730347"/>
            <a:ext cx="1687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4" name="Table 7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14136254"/>
              </p:ext>
            </p:extLst>
          </p:nvPr>
        </p:nvGraphicFramePr>
        <p:xfrm>
          <a:off x="229180" y="4526536"/>
          <a:ext cx="11657074" cy="226088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Scale-based benefits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Experience, learning effects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Capital requirements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of reputation, brand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  <a:alpha val="20000"/>
                      </a:schemeClr>
                    </a:solidFill>
                  </a:tcPr>
                </a:tc>
              </a:tr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to distribution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Left-Right Arrow 74"/>
          <p:cNvSpPr/>
          <p:nvPr userDrawn="1"/>
        </p:nvSpPr>
        <p:spPr>
          <a:xfrm>
            <a:off x="3254634" y="4619028"/>
            <a:ext cx="8037192" cy="265176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 userDrawn="1"/>
        </p:nvSpPr>
        <p:spPr>
          <a:xfrm>
            <a:off x="2704281" y="4604650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 userDrawn="1"/>
        </p:nvSpPr>
        <p:spPr>
          <a:xfrm>
            <a:off x="11238087" y="4604649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Left-Right Arrow 77"/>
          <p:cNvSpPr/>
          <p:nvPr userDrawn="1"/>
        </p:nvSpPr>
        <p:spPr>
          <a:xfrm>
            <a:off x="3254634" y="5083072"/>
            <a:ext cx="8037192" cy="265176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2704281" y="5068694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 userDrawn="1"/>
        </p:nvSpPr>
        <p:spPr>
          <a:xfrm>
            <a:off x="11238087" y="5068693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Left-Right Arrow 80"/>
          <p:cNvSpPr/>
          <p:nvPr userDrawn="1"/>
        </p:nvSpPr>
        <p:spPr>
          <a:xfrm>
            <a:off x="3254634" y="5547928"/>
            <a:ext cx="8037192" cy="265176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Left-Right Arrow 81"/>
          <p:cNvSpPr/>
          <p:nvPr userDrawn="1"/>
        </p:nvSpPr>
        <p:spPr>
          <a:xfrm>
            <a:off x="3235647" y="5978669"/>
            <a:ext cx="8037192" cy="265176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Left-Right Arrow 82"/>
          <p:cNvSpPr/>
          <p:nvPr userDrawn="1"/>
        </p:nvSpPr>
        <p:spPr>
          <a:xfrm>
            <a:off x="3254634" y="6428910"/>
            <a:ext cx="8037192" cy="265176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/>
          <p:cNvSpPr txBox="1"/>
          <p:nvPr userDrawn="1"/>
        </p:nvSpPr>
        <p:spPr>
          <a:xfrm>
            <a:off x="2704280" y="5529690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/>
          <p:cNvSpPr txBox="1"/>
          <p:nvPr userDrawn="1"/>
        </p:nvSpPr>
        <p:spPr>
          <a:xfrm>
            <a:off x="2404243" y="5990686"/>
            <a:ext cx="1056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Unimportant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/>
          <p:cNvSpPr txBox="1"/>
          <p:nvPr userDrawn="1"/>
        </p:nvSpPr>
        <p:spPr>
          <a:xfrm>
            <a:off x="11259742" y="5529689"/>
            <a:ext cx="6779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 userDrawn="1"/>
        </p:nvSpPr>
        <p:spPr>
          <a:xfrm>
            <a:off x="11212380" y="5974027"/>
            <a:ext cx="844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Rounded Rectangle 87"/>
          <p:cNvSpPr/>
          <p:nvPr userDrawn="1"/>
        </p:nvSpPr>
        <p:spPr>
          <a:xfrm>
            <a:off x="113607" y="1326896"/>
            <a:ext cx="3108943" cy="3745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3: Rivalry Among Competitors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ounded Rectangle 88"/>
          <p:cNvSpPr/>
          <p:nvPr userDrawn="1"/>
        </p:nvSpPr>
        <p:spPr>
          <a:xfrm>
            <a:off x="126704" y="4162060"/>
            <a:ext cx="3108943" cy="374599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4: Barriers to Entry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Oval 89"/>
          <p:cNvSpPr/>
          <p:nvPr userDrawn="1"/>
        </p:nvSpPr>
        <p:spPr>
          <a:xfrm>
            <a:off x="3308373" y="4228664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supplier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Oval 90"/>
          <p:cNvSpPr/>
          <p:nvPr userDrawn="1"/>
        </p:nvSpPr>
        <p:spPr>
          <a:xfrm>
            <a:off x="9985936" y="4201734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supplier power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Oval 91"/>
          <p:cNvSpPr/>
          <p:nvPr userDrawn="1"/>
        </p:nvSpPr>
        <p:spPr>
          <a:xfrm>
            <a:off x="3382196" y="1373706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rivalry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Oval 92"/>
          <p:cNvSpPr/>
          <p:nvPr userDrawn="1"/>
        </p:nvSpPr>
        <p:spPr>
          <a:xfrm>
            <a:off x="9986979" y="1375820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rivalry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Box 93"/>
          <p:cNvSpPr txBox="1"/>
          <p:nvPr userDrawn="1"/>
        </p:nvSpPr>
        <p:spPr>
          <a:xfrm>
            <a:off x="2404243" y="6418366"/>
            <a:ext cx="10567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Unimportant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/>
          <p:cNvSpPr txBox="1"/>
          <p:nvPr userDrawn="1"/>
        </p:nvSpPr>
        <p:spPr>
          <a:xfrm>
            <a:off x="11239100" y="6436687"/>
            <a:ext cx="844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3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3BA76-73CA-419C-9C63-59B80BCA72E0}" type="datetimeFigureOut">
              <a:rPr lang="en-US" smtClean="0"/>
              <a:t>10/27/2016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FF53A-0216-4AA9-978B-31598B958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67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65" r:id="rId3"/>
    <p:sldLayoutId id="2147483661" r:id="rId4"/>
    <p:sldLayoutId id="2147483662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63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477" y="216310"/>
            <a:ext cx="1134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[insert name or team name here]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6477" y="585642"/>
            <a:ext cx="1134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0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2" y="1749542"/>
            <a:ext cx="329213" cy="3535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2188148"/>
            <a:ext cx="329213" cy="3535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2687626"/>
            <a:ext cx="329213" cy="3535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3140442"/>
            <a:ext cx="329213" cy="35359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3591013"/>
            <a:ext cx="329213" cy="3535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4558431"/>
            <a:ext cx="329213" cy="3535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4997037"/>
            <a:ext cx="329213" cy="3535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5496515"/>
            <a:ext cx="329213" cy="35359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5949331"/>
            <a:ext cx="329213" cy="35359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6399902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6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2" y="1749542"/>
            <a:ext cx="329213" cy="3535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2188148"/>
            <a:ext cx="329213" cy="3535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2687626"/>
            <a:ext cx="329213" cy="3535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3140442"/>
            <a:ext cx="329213" cy="3535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3591013"/>
            <a:ext cx="329213" cy="3535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1" y="4574197"/>
            <a:ext cx="329213" cy="35359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5012803"/>
            <a:ext cx="329213" cy="3535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5512281"/>
            <a:ext cx="329213" cy="3535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5965097"/>
            <a:ext cx="329213" cy="3535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470" y="6415668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9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576" y="1970260"/>
            <a:ext cx="329213" cy="353599"/>
          </a:xfrm>
          <a:prstGeom prst="rect">
            <a:avLst/>
          </a:prstGeom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576" y="5756612"/>
            <a:ext cx="329213" cy="3535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576" y="3741253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8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ight Arrow 1"/>
          <p:cNvSpPr/>
          <p:nvPr/>
        </p:nvSpPr>
        <p:spPr>
          <a:xfrm>
            <a:off x="3241537" y="1989841"/>
            <a:ext cx="8037192" cy="265412"/>
          </a:xfrm>
          <a:prstGeom prst="leftRight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13607" y="1539959"/>
            <a:ext cx="3108943" cy="374599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F007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8: [Optional: Insert other factors]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40377"/>
              </p:ext>
            </p:extLst>
          </p:nvPr>
        </p:nvGraphicFramePr>
        <p:xfrm>
          <a:off x="280585" y="1914558"/>
          <a:ext cx="11657074" cy="45217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[optional: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insert other]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113607" y="3560573"/>
            <a:ext cx="3108943" cy="3745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09: [Optional: Insert other factors]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76477"/>
              </p:ext>
            </p:extLst>
          </p:nvPr>
        </p:nvGraphicFramePr>
        <p:xfrm>
          <a:off x="280585" y="3935172"/>
          <a:ext cx="11657074" cy="45217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7074"/>
              </a:tblGrid>
              <a:tr h="452177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[optional:</a:t>
                      </a:r>
                      <a:r>
                        <a:rPr lang="en-US" sz="1200" b="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insert other]</a:t>
                      </a:r>
                      <a:endParaRPr lang="en-US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Oval 28"/>
          <p:cNvSpPr/>
          <p:nvPr/>
        </p:nvSpPr>
        <p:spPr>
          <a:xfrm>
            <a:off x="3382196" y="3635871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986979" y="3637985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382196" y="1586769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9986979" y="1588883"/>
            <a:ext cx="1557982" cy="38780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eft-Right Arrow 40"/>
          <p:cNvSpPr/>
          <p:nvPr/>
        </p:nvSpPr>
        <p:spPr>
          <a:xfrm>
            <a:off x="3382196" y="4026431"/>
            <a:ext cx="8037192" cy="265176"/>
          </a:xfrm>
          <a:prstGeom prst="leftRightArrow">
            <a:avLst/>
          </a:prstGeom>
          <a:solidFill>
            <a:schemeClr val="tx1"/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185" y="4023680"/>
            <a:ext cx="329213" cy="35359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183" y="1930846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0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3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27840"/>
              </p:ext>
            </p:extLst>
          </p:nvPr>
        </p:nvGraphicFramePr>
        <p:xfrm>
          <a:off x="2038350" y="1157205"/>
          <a:ext cx="9872498" cy="504782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17972"/>
                <a:gridCol w="1192421"/>
                <a:gridCol w="1192421"/>
                <a:gridCol w="1192421"/>
                <a:gridCol w="1192421"/>
                <a:gridCol w="1192421"/>
                <a:gridCol w="1192421"/>
              </a:tblGrid>
              <a:tr h="690665"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Factors:</a:t>
                      </a:r>
                      <a:endPara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Un-attractive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8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8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Attractive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8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Un-attractive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Neutral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Attractive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516677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1: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of customers (makes this industry…)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2: Power of suppliers (makes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3: Rivalry among competitors (makes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4: Barriers to entry (make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5: Availability of substitutes (makes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6: Regulatory factors (make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7: Relationships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with </a:t>
                      </a:r>
                      <a:r>
                        <a:rPr lang="en-US" sz="1200" baseline="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US" sz="1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omplementors</a:t>
                      </a: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(make this industry…)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[Optional Factor: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insert optional additional factor you came up with]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55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[Optional Factor: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insert optional additional factor you came up with]</a:t>
                      </a:r>
                      <a:endParaRPr lang="en-US" sz="1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769347" y="776994"/>
            <a:ext cx="3531199" cy="331076"/>
          </a:xfrm>
          <a:prstGeom prst="roundRect">
            <a:avLst/>
          </a:prstGeom>
          <a:solidFill>
            <a:srgbClr val="981E32"/>
          </a:solidFill>
          <a:ln>
            <a:solidFill>
              <a:srgbClr val="981E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Current state of the industry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379649" y="776994"/>
            <a:ext cx="3531199" cy="33963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Future of the industry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82" y="2064568"/>
            <a:ext cx="329213" cy="353599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41" y="2064567"/>
            <a:ext cx="329213" cy="353599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17" y="2064568"/>
            <a:ext cx="329213" cy="353599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76" y="2064567"/>
            <a:ext cx="329213" cy="35359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82" y="2429387"/>
            <a:ext cx="329213" cy="353599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41" y="2429386"/>
            <a:ext cx="329213" cy="35359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717" y="2429387"/>
            <a:ext cx="329213" cy="353599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76" y="2429386"/>
            <a:ext cx="329213" cy="353599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1" y="2782985"/>
            <a:ext cx="329213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6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06477" y="585642"/>
            <a:ext cx="11346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Assignment Part 3: Final Analysis Summary</a:t>
            </a:r>
            <a:endParaRPr lang="en-US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05061" y="1586085"/>
            <a:ext cx="11346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two factors that are most important in </a:t>
            </a:r>
            <a:r>
              <a:rPr lang="en-US" sz="2400" smtClean="0"/>
              <a:t>your firm’s industry </a:t>
            </a:r>
            <a:r>
              <a:rPr lang="en-US" sz="2400" dirty="0" smtClean="0"/>
              <a:t>are:</a:t>
            </a:r>
          </a:p>
          <a:p>
            <a:r>
              <a:rPr lang="en-US" sz="2400" b="1" dirty="0" smtClean="0"/>
              <a:t>1.</a:t>
            </a:r>
          </a:p>
          <a:p>
            <a:r>
              <a:rPr lang="en-US" sz="2400" b="1" dirty="0" smtClean="0"/>
              <a:t>2.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05061" y="3837454"/>
            <a:ext cx="11346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two factors that are most likely to change in the future are:</a:t>
            </a:r>
          </a:p>
          <a:p>
            <a:r>
              <a:rPr lang="en-US" sz="2400" b="1" dirty="0" smtClean="0"/>
              <a:t>1.</a:t>
            </a:r>
          </a:p>
          <a:p>
            <a:r>
              <a:rPr lang="en-US" sz="2400" b="1" dirty="0" smtClean="0"/>
              <a:t>2.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1381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201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Wharton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the map of activity system for your department/unit or region here]</dc:title>
  <dc:creator>Breitkopf, Michelle</dc:creator>
  <cp:lastModifiedBy>Leone, Paulina</cp:lastModifiedBy>
  <cp:revision>114</cp:revision>
  <dcterms:created xsi:type="dcterms:W3CDTF">2015-09-18T15:45:38Z</dcterms:created>
  <dcterms:modified xsi:type="dcterms:W3CDTF">2016-10-27T19:28:00Z</dcterms:modified>
</cp:coreProperties>
</file>