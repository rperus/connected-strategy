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352" r:id="rId2"/>
    <p:sldId id="306" r:id="rId3"/>
    <p:sldId id="342" r:id="rId4"/>
    <p:sldId id="343" r:id="rId5"/>
    <p:sldId id="321" r:id="rId6"/>
    <p:sldId id="322" r:id="rId7"/>
    <p:sldId id="345" r:id="rId8"/>
    <p:sldId id="309" r:id="rId9"/>
    <p:sldId id="279" r:id="rId10"/>
    <p:sldId id="299" r:id="rId11"/>
    <p:sldId id="277" r:id="rId12"/>
    <p:sldId id="340" r:id="rId13"/>
    <p:sldId id="346" r:id="rId14"/>
    <p:sldId id="347" r:id="rId15"/>
    <p:sldId id="282" r:id="rId16"/>
    <p:sldId id="283" r:id="rId17"/>
    <p:sldId id="348" r:id="rId18"/>
    <p:sldId id="313" r:id="rId19"/>
    <p:sldId id="303" r:id="rId20"/>
    <p:sldId id="349" r:id="rId21"/>
    <p:sldId id="350" r:id="rId22"/>
    <p:sldId id="331" r:id="rId23"/>
    <p:sldId id="351" r:id="rId24"/>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128"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1" d="100"/>
          <a:sy n="111" d="100"/>
        </p:scale>
        <p:origin x="922" y="86"/>
      </p:cViewPr>
      <p:guideLst>
        <p:guide orient="horz" pos="1128"/>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CBB1BA5-1787-A040-B464-5527AA3B41EE}" type="datetimeFigureOut">
              <a:rPr lang="en-US" smtClean="0"/>
              <a:t>4/21/2026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46DC4EBD-97AF-684D-92B1-809297FE2083}" type="slidenum">
              <a:rPr lang="en-US" smtClean="0"/>
              <a:t>‹#›</a:t>
            </a:fld>
            <a:endParaRPr lang="en-US"/>
          </a:p>
        </p:txBody>
      </p:sp>
    </p:spTree>
    <p:extLst>
      <p:ext uri="{BB962C8B-B14F-4D97-AF65-F5344CB8AC3E}">
        <p14:creationId xmlns:p14="http://schemas.microsoft.com/office/powerpoint/2010/main" val="55126538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5</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0833450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6</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962012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7</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4219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p>
            <a:fld id="{1340D5DF-4E18-4BF3-AC0B-D141D0180654}" type="slidenum">
              <a:rPr lang="en-US"/>
              <a:pPr/>
              <a:t>12</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p:txBody>
          <a:bodyPr/>
          <a:lstStyle/>
          <a:p>
            <a:pPr eaLnBrk="1" hangingPunct="1"/>
            <a:endParaRPr lang="en-US" dirty="0"/>
          </a:p>
        </p:txBody>
      </p:sp>
    </p:spTree>
    <p:extLst>
      <p:ext uri="{BB962C8B-B14F-4D97-AF65-F5344CB8AC3E}">
        <p14:creationId xmlns:p14="http://schemas.microsoft.com/office/powerpoint/2010/main" val="3457265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17</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867557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p>
            <a:fld id="{C3376E22-A48D-408B-96F4-C552D8441F08}" type="slidenum">
              <a:rPr lang="en-US"/>
              <a:pPr/>
              <a:t>21</a:t>
            </a:fld>
            <a:endParaRPr lang="en-US"/>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96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2C70F38-B42B-49FA-BE9E-7DD673E03E16}"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410434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092EC2-88B1-48B7-9110-5FCBCE105899}"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9749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67F440-C941-4810-9594-7F9DC735E96E}"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266733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879322-8A14-4294-ACCA-6D6E4604F6E1}"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035440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7FDA0E-969A-4C5B-BFAF-4BDED3EFE96D}" type="datetime1">
              <a:rPr lang="en-US" smtClean="0"/>
              <a:t>4/21/2026</a:t>
            </a:fld>
            <a:endParaRPr lang="en-US"/>
          </a:p>
        </p:txBody>
      </p:sp>
      <p:sp>
        <p:nvSpPr>
          <p:cNvPr id="8" name="Footer Placeholder 7"/>
          <p:cNvSpPr>
            <a:spLocks noGrp="1"/>
          </p:cNvSpPr>
          <p:nvPr>
            <p:ph type="ftr" sz="quarter" idx="11"/>
          </p:nvPr>
        </p:nvSpPr>
        <p:spPr/>
        <p:txBody>
          <a:bodyPr/>
          <a:lstStyle/>
          <a:p>
            <a:r>
              <a:rPr lang="en-US"/>
              <a:t>© Siggelkow &amp; Terwiesch (2019)</a:t>
            </a:r>
          </a:p>
        </p:txBody>
      </p:sp>
      <p:sp>
        <p:nvSpPr>
          <p:cNvPr id="9" name="Slide Number Placeholder 8"/>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598108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D4EE1D3-D6A4-487C-9BC6-C2B09E189764}" type="datetime1">
              <a:rPr lang="en-US" smtClean="0"/>
              <a:t>4/21/2026</a:t>
            </a:fld>
            <a:endParaRPr lang="en-US"/>
          </a:p>
        </p:txBody>
      </p:sp>
      <p:sp>
        <p:nvSpPr>
          <p:cNvPr id="4" name="Footer Placeholder 3"/>
          <p:cNvSpPr>
            <a:spLocks noGrp="1"/>
          </p:cNvSpPr>
          <p:nvPr>
            <p:ph type="ftr" sz="quarter" idx="11"/>
          </p:nvPr>
        </p:nvSpPr>
        <p:spPr/>
        <p:txBody>
          <a:bodyPr/>
          <a:lstStyle/>
          <a:p>
            <a:r>
              <a:rPr lang="en-US"/>
              <a:t>© Siggelkow &amp; Terwiesch (2019)</a:t>
            </a:r>
          </a:p>
        </p:txBody>
      </p:sp>
      <p:sp>
        <p:nvSpPr>
          <p:cNvPr id="5" name="Slide Number Placeholder 4"/>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906453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C1E686-9692-433B-A551-A23CC142AC86}" type="datetime1">
              <a:rPr lang="en-US" smtClean="0"/>
              <a:t>4/21/2026</a:t>
            </a:fld>
            <a:endParaRPr lang="en-US"/>
          </a:p>
        </p:txBody>
      </p:sp>
      <p:sp>
        <p:nvSpPr>
          <p:cNvPr id="3" name="Footer Placeholder 2"/>
          <p:cNvSpPr>
            <a:spLocks noGrp="1"/>
          </p:cNvSpPr>
          <p:nvPr>
            <p:ph type="ftr" sz="quarter" idx="11"/>
          </p:nvPr>
        </p:nvSpPr>
        <p:spPr/>
        <p:txBody>
          <a:bodyPr/>
          <a:lstStyle/>
          <a:p>
            <a:r>
              <a:rPr lang="en-US"/>
              <a:t>© Siggelkow &amp; Terwiesch (2019)</a:t>
            </a:r>
          </a:p>
        </p:txBody>
      </p:sp>
      <p:sp>
        <p:nvSpPr>
          <p:cNvPr id="4" name="Slide Number Placeholder 3"/>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806897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E771595-E690-4AE1-A396-3739E710A4EA}"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23351957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EB698F-049E-4436-BEFE-306C825BFC35}" type="datetime1">
              <a:rPr lang="en-US" smtClean="0"/>
              <a:t>4/21/2026</a:t>
            </a:fld>
            <a:endParaRPr lang="en-US"/>
          </a:p>
        </p:txBody>
      </p:sp>
      <p:sp>
        <p:nvSpPr>
          <p:cNvPr id="6" name="Footer Placeholder 5"/>
          <p:cNvSpPr>
            <a:spLocks noGrp="1"/>
          </p:cNvSpPr>
          <p:nvPr>
            <p:ph type="ftr" sz="quarter" idx="11"/>
          </p:nvPr>
        </p:nvSpPr>
        <p:spPr/>
        <p:txBody>
          <a:bodyPr/>
          <a:lstStyle/>
          <a:p>
            <a:r>
              <a:rPr lang="en-US"/>
              <a:t>© Siggelkow &amp; Terwiesch (2019)</a:t>
            </a:r>
          </a:p>
        </p:txBody>
      </p:sp>
      <p:sp>
        <p:nvSpPr>
          <p:cNvPr id="7" name="Slide Number Placeholder 6"/>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1988737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C96E0A-916D-4E67-ADDA-C5D1F563192F}"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498854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26DA87A-6E43-4A10-8EDA-E0AE1BB726BC}" type="datetime1">
              <a:rPr lang="en-US" smtClean="0"/>
              <a:t>4/21/2026</a:t>
            </a:fld>
            <a:endParaRPr lang="en-US"/>
          </a:p>
        </p:txBody>
      </p:sp>
      <p:sp>
        <p:nvSpPr>
          <p:cNvPr id="5" name="Footer Placeholder 4"/>
          <p:cNvSpPr>
            <a:spLocks noGrp="1"/>
          </p:cNvSpPr>
          <p:nvPr>
            <p:ph type="ftr" sz="quarter" idx="11"/>
          </p:nvPr>
        </p:nvSpPr>
        <p:spPr/>
        <p:txBody>
          <a:bodyPr/>
          <a:lstStyle/>
          <a:p>
            <a:r>
              <a:rPr lang="en-US"/>
              <a:t>© Siggelkow &amp; Terwiesch (2019)</a:t>
            </a:r>
          </a:p>
        </p:txBody>
      </p:sp>
      <p:sp>
        <p:nvSpPr>
          <p:cNvPr id="6" name="Slide Number Placeholder 5"/>
          <p:cNvSpPr>
            <a:spLocks noGrp="1"/>
          </p:cNvSpPr>
          <p:nvPr>
            <p:ph type="sldNum" sz="quarter" idx="12"/>
          </p:nvPr>
        </p:nvSpPr>
        <p:spPr/>
        <p:txBody>
          <a:bodyPr/>
          <a:lstStyle/>
          <a:p>
            <a:fld id="{BD3418C6-B0A1-754D-8105-81954CDE75E2}" type="slidenum">
              <a:rPr lang="en-US" smtClean="0"/>
              <a:t>‹#›</a:t>
            </a:fld>
            <a:endParaRPr lang="en-US"/>
          </a:p>
        </p:txBody>
      </p:sp>
    </p:spTree>
    <p:extLst>
      <p:ext uri="{BB962C8B-B14F-4D97-AF65-F5344CB8AC3E}">
        <p14:creationId xmlns:p14="http://schemas.microsoft.com/office/powerpoint/2010/main" val="363703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EAE314-4DD4-4C8A-9D77-8C57AA2A6C9F}" type="datetime1">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Siggelkow &amp; Terwiesch (2019)</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3418C6-B0A1-754D-8105-81954CDE75E2}" type="slidenum">
              <a:rPr lang="en-US" smtClean="0"/>
              <a:t>‹#›</a:t>
            </a:fld>
            <a:endParaRPr lang="en-US"/>
          </a:p>
        </p:txBody>
      </p:sp>
    </p:spTree>
    <p:extLst>
      <p:ext uri="{BB962C8B-B14F-4D97-AF65-F5344CB8AC3E}">
        <p14:creationId xmlns:p14="http://schemas.microsoft.com/office/powerpoint/2010/main" val="3943039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04164" y="2130425"/>
            <a:ext cx="4052769" cy="1724759"/>
          </a:xfrm>
        </p:spPr>
        <p:txBody>
          <a:bodyPr>
            <a:normAutofit fontScale="90000"/>
          </a:bodyPr>
          <a:lstStyle/>
          <a:p>
            <a:r>
              <a:rPr lang="en-US" dirty="0"/>
              <a:t>Worksheets</a:t>
            </a:r>
            <a:br>
              <a:rPr lang="en-US" dirty="0"/>
            </a:br>
            <a:r>
              <a:rPr lang="en-US" dirty="0"/>
              <a:t> </a:t>
            </a:r>
            <a:r>
              <a:rPr lang="en-US" sz="2200" dirty="0"/>
              <a:t>from </a:t>
            </a:r>
            <a:br>
              <a:rPr lang="en-US" sz="2200" dirty="0"/>
            </a:br>
            <a:r>
              <a:rPr lang="en-US" sz="2200" dirty="0"/>
              <a:t>Siggelkow &amp; </a:t>
            </a:r>
            <a:r>
              <a:rPr lang="en-US" sz="2200" dirty="0" err="1"/>
              <a:t>Terwiesch</a:t>
            </a:r>
            <a:r>
              <a:rPr lang="en-US" sz="2200" dirty="0"/>
              <a:t> </a:t>
            </a:r>
            <a:br>
              <a:rPr lang="en-US" sz="2200" dirty="0"/>
            </a:br>
            <a:br>
              <a:rPr lang="en-US" sz="2200" dirty="0"/>
            </a:br>
            <a:r>
              <a:rPr lang="en-US" sz="3100" i="1" dirty="0"/>
              <a:t>Connected Strategy </a:t>
            </a:r>
            <a:br>
              <a:rPr lang="en-US" sz="2200" dirty="0"/>
            </a:br>
            <a:r>
              <a:rPr lang="en-US" sz="2200" dirty="0"/>
              <a:t>(HBR Press, 2019)</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5702" y="355926"/>
            <a:ext cx="5829883" cy="5829883"/>
          </a:xfrm>
          <a:prstGeom prst="rect">
            <a:avLst/>
          </a:prstGeom>
        </p:spPr>
      </p:pic>
      <p:sp>
        <p:nvSpPr>
          <p:cNvPr id="6" name="Footer Placeholder 5"/>
          <p:cNvSpPr>
            <a:spLocks noGrp="1"/>
          </p:cNvSpPr>
          <p:nvPr>
            <p:ph type="ftr" sz="quarter" idx="11"/>
          </p:nvPr>
        </p:nvSpPr>
        <p:spPr/>
        <p:txBody>
          <a:bodyPr/>
          <a:lstStyle/>
          <a:p>
            <a:r>
              <a:rPr lang="en-US" dirty="0">
                <a:latin typeface="Arial" panose="020B0604020202020204" pitchFamily="34" charset="0"/>
                <a:cs typeface="Arial" panose="020B0604020202020204" pitchFamily="34" charset="0"/>
              </a:rPr>
              <a:t>© Siggelkow &amp; </a:t>
            </a:r>
            <a:r>
              <a:rPr lang="en-US" dirty="0" err="1">
                <a:latin typeface="Arial" panose="020B0604020202020204" pitchFamily="34" charset="0"/>
                <a:cs typeface="Arial" panose="020B0604020202020204" pitchFamily="34" charset="0"/>
              </a:rPr>
              <a:t>Terwiesch</a:t>
            </a:r>
            <a:r>
              <a:rPr lang="en-US" dirty="0">
                <a:latin typeface="Arial" panose="020B0604020202020204" pitchFamily="34" charset="0"/>
                <a:cs typeface="Arial" panose="020B0604020202020204" pitchFamily="34" charset="0"/>
              </a:rPr>
              <a:t> (2019)</a:t>
            </a:r>
            <a:endParaRPr lang="en-US" dirty="0"/>
          </a:p>
        </p:txBody>
      </p:sp>
    </p:spTree>
    <p:extLst>
      <p:ext uri="{BB962C8B-B14F-4D97-AF65-F5344CB8AC3E}">
        <p14:creationId xmlns:p14="http://schemas.microsoft.com/office/powerpoint/2010/main" val="3382133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3</a:t>
            </a:r>
            <a:endParaRPr lang="en-US" sz="8000" dirty="0"/>
          </a:p>
        </p:txBody>
      </p:sp>
      <p:sp>
        <p:nvSpPr>
          <p:cNvPr id="2" name="TextBox 1"/>
          <p:cNvSpPr txBox="1"/>
          <p:nvPr/>
        </p:nvSpPr>
        <p:spPr>
          <a:xfrm>
            <a:off x="927100" y="4064000"/>
            <a:ext cx="5943600" cy="369332"/>
          </a:xfrm>
          <a:prstGeom prst="rect">
            <a:avLst/>
          </a:prstGeom>
          <a:noFill/>
        </p:spPr>
        <p:txBody>
          <a:bodyPr wrap="square" rtlCol="0">
            <a:spAutoFit/>
          </a:bodyPr>
          <a:lstStyle/>
          <a:p>
            <a:r>
              <a:rPr lang="en-US" dirty="0"/>
              <a:t>(Rewards of Connected Strategies)</a:t>
            </a:r>
          </a:p>
        </p:txBody>
      </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255947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1: Diagnostic questions concerning your current connections with customers</a:t>
            </a:r>
          </a:p>
        </p:txBody>
      </p:sp>
      <p:graphicFrame>
        <p:nvGraphicFramePr>
          <p:cNvPr id="4" name="Table 3"/>
          <p:cNvGraphicFramePr>
            <a:graphicFrameLocks noGrp="1"/>
          </p:cNvGraphicFramePr>
          <p:nvPr>
            <p:extLst>
              <p:ext uri="{D42A27DB-BD31-4B8C-83A1-F6EECF244321}">
                <p14:modId xmlns:p14="http://schemas.microsoft.com/office/powerpoint/2010/main" val="3289576770"/>
              </p:ext>
            </p:extLst>
          </p:nvPr>
        </p:nvGraphicFramePr>
        <p:xfrm>
          <a:off x="599768" y="1397000"/>
          <a:ext cx="7639664" cy="439420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a:t>
                      </a:r>
                      <a:r>
                        <a:rPr lang="en-US" sz="1200" baseline="0" dirty="0"/>
                        <a:t> often do you currently connect to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What kind</a:t>
                      </a:r>
                      <a:r>
                        <a:rPr lang="en-US" sz="1200" baseline="0" dirty="0"/>
                        <a:t> of information do you receive about your customers’ needs?</a:t>
                      </a:r>
                      <a:endParaRPr lang="en-US" sz="1200" dirty="0"/>
                    </a:p>
                  </a:txBody>
                  <a:tcPr/>
                </a:tc>
                <a:tc>
                  <a:txBody>
                    <a:bodyPr/>
                    <a:lstStyle/>
                    <a:p>
                      <a:endParaRPr lang="en-US" sz="1200"/>
                    </a:p>
                  </a:txBody>
                  <a:tcPr/>
                </a:tc>
                <a:extLst>
                  <a:ext uri="{0D108BD9-81ED-4DB2-BD59-A6C34878D82A}">
                    <a16:rowId xmlns:a16="http://schemas.microsoft.com/office/drawing/2014/main" val="552316924"/>
                  </a:ext>
                </a:extLst>
              </a:tr>
              <a:tr h="370840">
                <a:tc>
                  <a:txBody>
                    <a:bodyPr/>
                    <a:lstStyle/>
                    <a:p>
                      <a:r>
                        <a:rPr lang="en-US" sz="1200" dirty="0"/>
                        <a:t>How does information flow from the customer to you? For instance,</a:t>
                      </a:r>
                      <a:r>
                        <a:rPr lang="en-US" sz="1200" baseline="0" dirty="0"/>
                        <a:t> does the information flow rely on the customer taking the initiative, or does the information flow happen in more a continuous and autonomous manner</a:t>
                      </a:r>
                      <a:endParaRPr lang="en-US" sz="1200" dirty="0"/>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How long</a:t>
                      </a:r>
                      <a:r>
                        <a:rPr lang="en-US" sz="1200" baseline="0" dirty="0"/>
                        <a:t> does it take for a customer need to reach you?</a:t>
                      </a:r>
                      <a:endParaRPr lang="en-US" sz="1200" dirty="0"/>
                    </a:p>
                  </a:txBody>
                  <a:tcPr/>
                </a:tc>
                <a:tc>
                  <a:txBody>
                    <a:bodyPr/>
                    <a:lstStyle/>
                    <a:p>
                      <a:endParaRPr lang="en-US" sz="1200"/>
                    </a:p>
                  </a:txBody>
                  <a:tcPr/>
                </a:tc>
                <a:extLst>
                  <a:ext uri="{0D108BD9-81ED-4DB2-BD59-A6C34878D82A}">
                    <a16:rowId xmlns:a16="http://schemas.microsoft.com/office/drawing/2014/main" val="218121306"/>
                  </a:ext>
                </a:extLst>
              </a:tr>
              <a:tr h="370840">
                <a:tc>
                  <a:txBody>
                    <a:bodyPr/>
                    <a:lstStyle/>
                    <a:p>
                      <a:r>
                        <a:rPr lang="en-US" sz="1200" dirty="0"/>
                        <a:t>How long does</a:t>
                      </a:r>
                      <a:r>
                        <a:rPr lang="en-US" sz="1200" baseline="0" dirty="0"/>
                        <a:t> it take for you to react once you have a customer need?</a:t>
                      </a:r>
                      <a:endParaRPr lang="en-US" sz="1200" dirty="0"/>
                    </a:p>
                  </a:txBody>
                  <a:tcPr/>
                </a:tc>
                <a:tc>
                  <a:txBody>
                    <a:bodyPr/>
                    <a:lstStyle/>
                    <a:p>
                      <a:endParaRPr lang="en-US" sz="1200"/>
                    </a:p>
                  </a:txBody>
                  <a:tcPr/>
                </a:tc>
                <a:extLst>
                  <a:ext uri="{0D108BD9-81ED-4DB2-BD59-A6C34878D82A}">
                    <a16:rowId xmlns:a16="http://schemas.microsoft.com/office/drawing/2014/main" val="1138389575"/>
                  </a:ext>
                </a:extLst>
              </a:tr>
              <a:tr h="370840">
                <a:tc>
                  <a:txBody>
                    <a:bodyPr/>
                    <a:lstStyle/>
                    <a:p>
                      <a:r>
                        <a:rPr lang="en-US" sz="1200" dirty="0"/>
                        <a:t>What</a:t>
                      </a:r>
                      <a:r>
                        <a:rPr lang="en-US" sz="1200" baseline="0" dirty="0"/>
                        <a:t> do you learn each time a customer connects to your firm? How are you integrating these episodic interactions into a single connected experience for your customers?</a:t>
                      </a:r>
                      <a:endParaRPr lang="en-US" sz="1200" dirty="0"/>
                    </a:p>
                  </a:txBody>
                  <a:tcPr/>
                </a:tc>
                <a:tc>
                  <a:txBody>
                    <a:bodyPr/>
                    <a:lstStyle/>
                    <a:p>
                      <a:endParaRPr lang="en-US" sz="1200" dirty="0"/>
                    </a:p>
                  </a:txBody>
                  <a:tcPr/>
                </a:tc>
                <a:extLst>
                  <a:ext uri="{0D108BD9-81ED-4DB2-BD59-A6C34878D82A}">
                    <a16:rowId xmlns:a16="http://schemas.microsoft.com/office/drawing/2014/main" val="739174328"/>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616283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2: Brainstorm the effects of a Connected Strategy could have for your organization</a:t>
            </a:r>
          </a:p>
        </p:txBody>
      </p:sp>
      <p:graphicFrame>
        <p:nvGraphicFramePr>
          <p:cNvPr id="4" name="Table 3"/>
          <p:cNvGraphicFramePr>
            <a:graphicFrameLocks noGrp="1"/>
          </p:cNvGraphicFramePr>
          <p:nvPr>
            <p:extLst>
              <p:ext uri="{D42A27DB-BD31-4B8C-83A1-F6EECF244321}">
                <p14:modId xmlns:p14="http://schemas.microsoft.com/office/powerpoint/2010/main" val="646230667"/>
              </p:ext>
            </p:extLst>
          </p:nvPr>
        </p:nvGraphicFramePr>
        <p:xfrm>
          <a:off x="599768" y="1937774"/>
          <a:ext cx="7639664" cy="14681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could</a:t>
                      </a:r>
                      <a:r>
                        <a:rPr lang="en-US" sz="1200" baseline="0" dirty="0"/>
                        <a:t> you use this information to increase the willingness-to-pay of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could you use this information to decrease your fulfilment costs?</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2" name="TextBox 1"/>
          <p:cNvSpPr txBox="1"/>
          <p:nvPr/>
        </p:nvSpPr>
        <p:spPr>
          <a:xfrm>
            <a:off x="599768" y="1091381"/>
            <a:ext cx="6213987" cy="646331"/>
          </a:xfrm>
          <a:prstGeom prst="rect">
            <a:avLst/>
          </a:prstGeom>
          <a:noFill/>
        </p:spPr>
        <p:txBody>
          <a:bodyPr wrap="square" rtlCol="0">
            <a:spAutoFit/>
          </a:bodyPr>
          <a:lstStyle/>
          <a:p>
            <a:r>
              <a:rPr lang="en-US" sz="1200" i="1" dirty="0"/>
              <a:t>Imagine a world in which customers could instantaneously communicate their needs to you. You are by their side as they go through life, anytime and anywhere. How would this increase in connectivity allow you to improve how you serve your customers? More specifically:</a:t>
            </a:r>
          </a:p>
        </p:txBody>
      </p:sp>
      <p:graphicFrame>
        <p:nvGraphicFramePr>
          <p:cNvPr id="5" name="Table 4"/>
          <p:cNvGraphicFramePr>
            <a:graphicFrameLocks noGrp="1"/>
          </p:cNvGraphicFramePr>
          <p:nvPr>
            <p:extLst>
              <p:ext uri="{D42A27DB-BD31-4B8C-83A1-F6EECF244321}">
                <p14:modId xmlns:p14="http://schemas.microsoft.com/office/powerpoint/2010/main" val="1627786502"/>
              </p:ext>
            </p:extLst>
          </p:nvPr>
        </p:nvGraphicFramePr>
        <p:xfrm>
          <a:off x="599768" y="4372872"/>
          <a:ext cx="7639664" cy="14681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could</a:t>
                      </a:r>
                      <a:r>
                        <a:rPr lang="en-US" sz="1200" baseline="0" dirty="0"/>
                        <a:t> you use this information to increase the willingness-to-pay of your customers?</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could you use this information to decrease your fulfilment costs?</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6" name="TextBox 5"/>
          <p:cNvSpPr txBox="1"/>
          <p:nvPr/>
        </p:nvSpPr>
        <p:spPr>
          <a:xfrm>
            <a:off x="599768" y="3726541"/>
            <a:ext cx="6213987" cy="461665"/>
          </a:xfrm>
          <a:prstGeom prst="rect">
            <a:avLst/>
          </a:prstGeom>
          <a:noFill/>
        </p:spPr>
        <p:txBody>
          <a:bodyPr wrap="square" rtlCol="0">
            <a:spAutoFit/>
          </a:bodyPr>
          <a:lstStyle/>
          <a:p>
            <a:r>
              <a:rPr lang="en-US" sz="1200" i="1" dirty="0"/>
              <a:t>Next, imagine a world in which you know a customer need even </a:t>
            </a:r>
            <a:r>
              <a:rPr lang="en-US" sz="1200" dirty="0"/>
              <a:t>before</a:t>
            </a:r>
            <a:r>
              <a:rPr lang="en-US" sz="1200" i="1" dirty="0"/>
              <a:t> the customer knows this need itself.</a:t>
            </a:r>
          </a:p>
        </p:txBody>
      </p:sp>
      <p:sp>
        <p:nvSpPr>
          <p:cNvPr id="7" name="Footer Placeholder 6"/>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582218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p:cNvSpPr/>
          <p:nvPr/>
        </p:nvSpPr>
        <p:spPr>
          <a:xfrm>
            <a:off x="491613"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Performance</a:t>
            </a:r>
          </a:p>
        </p:txBody>
      </p:sp>
      <p:sp>
        <p:nvSpPr>
          <p:cNvPr id="4" name="Rounded Rectangle 3"/>
          <p:cNvSpPr/>
          <p:nvPr/>
        </p:nvSpPr>
        <p:spPr>
          <a:xfrm>
            <a:off x="1776469" y="2725982"/>
            <a:ext cx="1255464" cy="3247306"/>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Fit</a:t>
            </a:r>
          </a:p>
        </p:txBody>
      </p:sp>
      <p:sp>
        <p:nvSpPr>
          <p:cNvPr id="5" name="Rounded Rectangle 4"/>
          <p:cNvSpPr/>
          <p:nvPr/>
        </p:nvSpPr>
        <p:spPr>
          <a:xfrm>
            <a:off x="3061325"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Location</a:t>
            </a:r>
          </a:p>
        </p:txBody>
      </p:sp>
      <p:sp>
        <p:nvSpPr>
          <p:cNvPr id="6" name="Rounded Rectangle 5"/>
          <p:cNvSpPr/>
          <p:nvPr/>
        </p:nvSpPr>
        <p:spPr>
          <a:xfrm>
            <a:off x="4346181"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Timing</a:t>
            </a:r>
          </a:p>
        </p:txBody>
      </p:sp>
      <p:sp>
        <p:nvSpPr>
          <p:cNvPr id="7" name="Rounded Rectangle 6"/>
          <p:cNvSpPr/>
          <p:nvPr/>
        </p:nvSpPr>
        <p:spPr>
          <a:xfrm>
            <a:off x="5631037"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Usage cost over product life</a:t>
            </a:r>
          </a:p>
        </p:txBody>
      </p:sp>
      <p:sp>
        <p:nvSpPr>
          <p:cNvPr id="8" name="Rounded Rectangle 7"/>
          <p:cNvSpPr/>
          <p:nvPr/>
        </p:nvSpPr>
        <p:spPr>
          <a:xfrm>
            <a:off x="6915893" y="2725982"/>
            <a:ext cx="1255464" cy="324730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Maintenance cost over product life</a:t>
            </a:r>
          </a:p>
        </p:txBody>
      </p:sp>
      <p:sp>
        <p:nvSpPr>
          <p:cNvPr id="11" name="TextBox 10"/>
          <p:cNvSpPr txBox="1"/>
          <p:nvPr/>
        </p:nvSpPr>
        <p:spPr>
          <a:xfrm>
            <a:off x="574218" y="1331800"/>
            <a:ext cx="7496506"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Willingness to Pay</a:t>
            </a:r>
          </a:p>
        </p:txBody>
      </p:sp>
      <p:sp>
        <p:nvSpPr>
          <p:cNvPr id="12" name="TextBox 11"/>
          <p:cNvSpPr txBox="1"/>
          <p:nvPr/>
        </p:nvSpPr>
        <p:spPr>
          <a:xfrm>
            <a:off x="574218" y="1873765"/>
            <a:ext cx="2309233" cy="819274"/>
          </a:xfrm>
          <a:prstGeom prst="rect">
            <a:avLst/>
          </a:prstGeom>
          <a:noFill/>
        </p:spPr>
        <p:txBody>
          <a:bodyPr wrap="square" rtlCol="0">
            <a:spAutoFit/>
          </a:bodyPr>
          <a:lstStyle/>
          <a:p>
            <a:r>
              <a:rPr lang="en-US" sz="1100" b="1" dirty="0"/>
              <a:t>Consumption Utility: </a:t>
            </a:r>
            <a:r>
              <a:rPr lang="en-US" sz="1100" dirty="0"/>
              <a:t>How happy is the customer with the product or service?</a:t>
            </a:r>
          </a:p>
        </p:txBody>
      </p:sp>
      <p:sp>
        <p:nvSpPr>
          <p:cNvPr id="13" name="TextBox 12"/>
          <p:cNvSpPr txBox="1"/>
          <p:nvPr/>
        </p:nvSpPr>
        <p:spPr>
          <a:xfrm>
            <a:off x="2996325" y="1872366"/>
            <a:ext cx="2605320" cy="430887"/>
          </a:xfrm>
          <a:prstGeom prst="rect">
            <a:avLst/>
          </a:prstGeom>
          <a:noFill/>
        </p:spPr>
        <p:txBody>
          <a:bodyPr wrap="square" rtlCol="0">
            <a:spAutoFit/>
          </a:bodyPr>
          <a:lstStyle/>
          <a:p>
            <a:pPr lvl="0"/>
            <a:r>
              <a:rPr lang="en-US" sz="1100" b="1" dirty="0"/>
              <a:t>Accessibility: </a:t>
            </a:r>
            <a:r>
              <a:rPr lang="en-US" sz="1100" dirty="0"/>
              <a:t>How easy is it for the customer to get the product or service?</a:t>
            </a:r>
          </a:p>
        </p:txBody>
      </p:sp>
      <p:sp>
        <p:nvSpPr>
          <p:cNvPr id="15" name="TextBox 14"/>
          <p:cNvSpPr txBox="1"/>
          <p:nvPr/>
        </p:nvSpPr>
        <p:spPr>
          <a:xfrm>
            <a:off x="5696155" y="1873765"/>
            <a:ext cx="2309233" cy="600164"/>
          </a:xfrm>
          <a:prstGeom prst="rect">
            <a:avLst/>
          </a:prstGeom>
          <a:noFill/>
        </p:spPr>
        <p:txBody>
          <a:bodyPr wrap="square" rtlCol="0">
            <a:spAutoFit/>
          </a:bodyPr>
          <a:lstStyle/>
          <a:p>
            <a:pPr lvl="0"/>
            <a:r>
              <a:rPr lang="en-US" sz="1100" b="1" dirty="0"/>
              <a:t>Cost of Ownership: </a:t>
            </a:r>
            <a:r>
              <a:rPr lang="en-US" sz="1100" dirty="0"/>
              <a:t>How much does it cost for the customer to use and maintain the product?</a:t>
            </a:r>
          </a:p>
        </p:txBody>
      </p:sp>
      <p:sp>
        <p:nvSpPr>
          <p:cNvPr id="14" name="TextBox 13"/>
          <p:cNvSpPr txBox="1"/>
          <p:nvPr/>
        </p:nvSpPr>
        <p:spPr>
          <a:xfrm>
            <a:off x="491613" y="324465"/>
            <a:ext cx="6695768" cy="369332"/>
          </a:xfrm>
          <a:prstGeom prst="rect">
            <a:avLst/>
          </a:prstGeom>
          <a:noFill/>
        </p:spPr>
        <p:txBody>
          <a:bodyPr wrap="square" rtlCol="0">
            <a:spAutoFit/>
          </a:bodyPr>
          <a:lstStyle/>
          <a:p>
            <a:r>
              <a:rPr lang="en-US" b="1" dirty="0"/>
              <a:t>Step 3: Start identifying drivers of willingness-to-pay</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806564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502826" y="2552157"/>
            <a:ext cx="4604257" cy="2861775"/>
            <a:chOff x="1502826" y="2552157"/>
            <a:chExt cx="4604257" cy="2861775"/>
          </a:xfrm>
        </p:grpSpPr>
        <p:sp>
          <p:nvSpPr>
            <p:cNvPr id="4" name="Rectangle 3"/>
            <p:cNvSpPr>
              <a:spLocks noChangeArrowheads="1"/>
            </p:cNvSpPr>
            <p:nvPr/>
          </p:nvSpPr>
          <p:spPr bwMode="auto">
            <a:xfrm>
              <a:off x="2473162" y="2572398"/>
              <a:ext cx="3633921" cy="2595313"/>
            </a:xfrm>
            <a:prstGeom prst="rect">
              <a:avLst/>
            </a:prstGeom>
            <a:solidFill>
              <a:schemeClr val="bg1"/>
            </a:solidFill>
            <a:ln w="9525">
              <a:solidFill>
                <a:schemeClr val="tx1"/>
              </a:solidFill>
              <a:miter lim="800000"/>
              <a:headEnd/>
              <a:tailEnd/>
            </a:ln>
          </p:spPr>
          <p:txBody>
            <a:bodyPr wrap="none"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endParaRPr lang="en-US" sz="1000"/>
            </a:p>
          </p:txBody>
        </p:sp>
        <p:sp>
          <p:nvSpPr>
            <p:cNvPr id="5" name="Text Box 2070"/>
            <p:cNvSpPr txBox="1">
              <a:spLocks noChangeArrowheads="1"/>
            </p:cNvSpPr>
            <p:nvPr/>
          </p:nvSpPr>
          <p:spPr bwMode="auto">
            <a:xfrm>
              <a:off x="1502826" y="3570871"/>
              <a:ext cx="945256" cy="400110"/>
            </a:xfrm>
            <a:prstGeom prst="rect">
              <a:avLst/>
            </a:prstGeom>
            <a:noFill/>
            <a:ln w="9525">
              <a:noFill/>
              <a:miter lim="800000"/>
              <a:headEnd/>
              <a:tailEnd/>
            </a:ln>
          </p:spPr>
          <p:txBody>
            <a:bodyPr wrap="squar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i="1" dirty="0"/>
                <a:t>Willingness to pay</a:t>
              </a:r>
            </a:p>
          </p:txBody>
        </p:sp>
        <p:sp>
          <p:nvSpPr>
            <p:cNvPr id="6" name="Text Box 2081"/>
            <p:cNvSpPr txBox="1">
              <a:spLocks noChangeArrowheads="1"/>
            </p:cNvSpPr>
            <p:nvPr/>
          </p:nvSpPr>
          <p:spPr bwMode="auto">
            <a:xfrm>
              <a:off x="3579744" y="5167711"/>
              <a:ext cx="110158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i="1" dirty="0"/>
                <a:t>Fulfillment costs</a:t>
              </a:r>
            </a:p>
          </p:txBody>
        </p:sp>
        <p:sp>
          <p:nvSpPr>
            <p:cNvPr id="9" name="Text Box 2081"/>
            <p:cNvSpPr txBox="1">
              <a:spLocks noChangeArrowheads="1"/>
            </p:cNvSpPr>
            <p:nvPr/>
          </p:nvSpPr>
          <p:spPr bwMode="auto">
            <a:xfrm>
              <a:off x="1961004" y="2552157"/>
              <a:ext cx="447558"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High</a:t>
              </a:r>
            </a:p>
          </p:txBody>
        </p:sp>
        <p:sp>
          <p:nvSpPr>
            <p:cNvPr id="10" name="Text Box 2081"/>
            <p:cNvSpPr txBox="1">
              <a:spLocks noChangeArrowheads="1"/>
            </p:cNvSpPr>
            <p:nvPr/>
          </p:nvSpPr>
          <p:spPr bwMode="auto">
            <a:xfrm>
              <a:off x="1961004" y="4779899"/>
              <a:ext cx="41870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Low</a:t>
              </a:r>
            </a:p>
          </p:txBody>
        </p:sp>
        <p:sp>
          <p:nvSpPr>
            <p:cNvPr id="11" name="Text Box 2081"/>
            <p:cNvSpPr txBox="1">
              <a:spLocks noChangeArrowheads="1"/>
            </p:cNvSpPr>
            <p:nvPr/>
          </p:nvSpPr>
          <p:spPr bwMode="auto">
            <a:xfrm>
              <a:off x="5688379" y="5154366"/>
              <a:ext cx="418704"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Low</a:t>
              </a:r>
            </a:p>
          </p:txBody>
        </p:sp>
        <p:sp>
          <p:nvSpPr>
            <p:cNvPr id="12" name="Text Box 2081"/>
            <p:cNvSpPr txBox="1">
              <a:spLocks noChangeArrowheads="1"/>
            </p:cNvSpPr>
            <p:nvPr/>
          </p:nvSpPr>
          <p:spPr bwMode="auto">
            <a:xfrm>
              <a:off x="2417605" y="5149628"/>
              <a:ext cx="447558" cy="246221"/>
            </a:xfrm>
            <a:prstGeom prst="rect">
              <a:avLst/>
            </a:prstGeom>
            <a:noFill/>
            <a:ln w="9525">
              <a:noFill/>
              <a:miter lim="800000"/>
              <a:headEnd/>
              <a:tailEnd/>
            </a:ln>
          </p:spPr>
          <p:txBody>
            <a:bodyPr wrap="none">
              <a:spAutoFit/>
            </a:bodyP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sz="1000" dirty="0"/>
                <a:t>High</a:t>
              </a:r>
            </a:p>
          </p:txBody>
        </p:sp>
      </p:grpSp>
      <p:sp>
        <p:nvSpPr>
          <p:cNvPr id="13" name="TextBox 12"/>
          <p:cNvSpPr txBox="1"/>
          <p:nvPr/>
        </p:nvSpPr>
        <p:spPr>
          <a:xfrm>
            <a:off x="491612" y="324465"/>
            <a:ext cx="6923081" cy="646331"/>
          </a:xfrm>
          <a:prstGeom prst="rect">
            <a:avLst/>
          </a:prstGeom>
          <a:noFill/>
        </p:spPr>
        <p:txBody>
          <a:bodyPr wrap="square" rtlCol="0">
            <a:spAutoFit/>
          </a:bodyPr>
          <a:lstStyle/>
          <a:p>
            <a:pPr marL="857250" indent="-857250"/>
            <a:r>
              <a:rPr lang="en-US" b="1" dirty="0"/>
              <a:t>Step 4a: Sketch the efficiency frontier for your industry that reflects the trade-off between willingness-to-pay and fulfillment costs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265099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2" y="324465"/>
            <a:ext cx="6975197" cy="369332"/>
          </a:xfrm>
          <a:prstGeom prst="rect">
            <a:avLst/>
          </a:prstGeom>
          <a:noFill/>
        </p:spPr>
        <p:txBody>
          <a:bodyPr wrap="square" rtlCol="0">
            <a:spAutoFit/>
          </a:bodyPr>
          <a:lstStyle/>
          <a:p>
            <a:pPr marL="857250" indent="-857250"/>
            <a:r>
              <a:rPr lang="en-US" b="1" dirty="0"/>
              <a:t>Step 4b: Follow-up questions after sketching the efficiency frontier</a:t>
            </a:r>
          </a:p>
        </p:txBody>
      </p:sp>
      <p:graphicFrame>
        <p:nvGraphicFramePr>
          <p:cNvPr id="14" name="Table 13"/>
          <p:cNvGraphicFramePr>
            <a:graphicFrameLocks noGrp="1"/>
          </p:cNvGraphicFramePr>
          <p:nvPr>
            <p:extLst>
              <p:ext uri="{D42A27DB-BD31-4B8C-83A1-F6EECF244321}">
                <p14:modId xmlns:p14="http://schemas.microsoft.com/office/powerpoint/2010/main" val="59846581"/>
              </p:ext>
            </p:extLst>
          </p:nvPr>
        </p:nvGraphicFramePr>
        <p:xfrm>
          <a:off x="599768" y="1397000"/>
          <a:ext cx="7639664" cy="466852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Where are you relative to the</a:t>
                      </a:r>
                      <a:r>
                        <a:rPr lang="en-US" sz="1200" baseline="0" dirty="0"/>
                        <a:t> efficiency frontier?</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If you are not on</a:t>
                      </a:r>
                      <a:r>
                        <a:rPr lang="en-US" sz="1200" baseline="0" dirty="0"/>
                        <a:t> the efficiency frontier, what efficiency improvements do you plan to pursue in order to reduce your fulfilment costs?</a:t>
                      </a:r>
                      <a:endParaRPr lang="en-US" sz="1200" dirty="0"/>
                    </a:p>
                  </a:txBody>
                  <a:tcPr/>
                </a:tc>
                <a:tc>
                  <a:txBody>
                    <a:bodyPr/>
                    <a:lstStyle/>
                    <a:p>
                      <a:endParaRPr lang="en-US" sz="1200"/>
                    </a:p>
                  </a:txBody>
                  <a:tcPr/>
                </a:tc>
                <a:extLst>
                  <a:ext uri="{0D108BD9-81ED-4DB2-BD59-A6C34878D82A}">
                    <a16:rowId xmlns:a16="http://schemas.microsoft.com/office/drawing/2014/main" val="552316924"/>
                  </a:ext>
                </a:extLst>
              </a:tr>
              <a:tr h="370840">
                <a:tc>
                  <a:txBody>
                    <a:bodyPr/>
                    <a:lstStyle/>
                    <a:p>
                      <a:r>
                        <a:rPr lang="en-US" sz="1200" dirty="0"/>
                        <a:t>Assuming you are on the efficiency frontier, do you feel that you are in the right spot on the frontier?</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What are the trends in your industry? Is there pressure on lowering costs or do you see your firm win over its rivals by</a:t>
                      </a:r>
                      <a:r>
                        <a:rPr lang="en-US" sz="1200" baseline="0" dirty="0"/>
                        <a:t> providing products and services with a higher willingness-to-pay?</a:t>
                      </a:r>
                      <a:endParaRPr lang="en-US" sz="1200" dirty="0"/>
                    </a:p>
                  </a:txBody>
                  <a:tcPr/>
                </a:tc>
                <a:tc>
                  <a:txBody>
                    <a:bodyPr/>
                    <a:lstStyle/>
                    <a:p>
                      <a:endParaRPr lang="en-US" sz="1200"/>
                    </a:p>
                  </a:txBody>
                  <a:tcPr/>
                </a:tc>
                <a:extLst>
                  <a:ext uri="{0D108BD9-81ED-4DB2-BD59-A6C34878D82A}">
                    <a16:rowId xmlns:a16="http://schemas.microsoft.com/office/drawing/2014/main" val="218121306"/>
                  </a:ext>
                </a:extLst>
              </a:tr>
              <a:tr h="370840">
                <a:tc>
                  <a:txBody>
                    <a:bodyPr/>
                    <a:lstStyle/>
                    <a:p>
                      <a:r>
                        <a:rPr lang="en-US" sz="1200" dirty="0"/>
                        <a:t>Are there new technologies that have allowed some of the firms already in the industry or potentially new entrants to push out</a:t>
                      </a:r>
                      <a:r>
                        <a:rPr lang="en-US" sz="1200" baseline="0" dirty="0"/>
                        <a:t> the frontier? Do you see new business models breaking the trade-off between willingness-to-pay and fulfillment costs?</a:t>
                      </a:r>
                      <a:endParaRPr lang="en-US" sz="1200" dirty="0"/>
                    </a:p>
                  </a:txBody>
                  <a:tcPr/>
                </a:tc>
                <a:tc>
                  <a:txBody>
                    <a:bodyPr/>
                    <a:lstStyle/>
                    <a:p>
                      <a:endParaRPr lang="en-US" sz="1200" dirty="0"/>
                    </a:p>
                  </a:txBody>
                  <a:tcPr/>
                </a:tc>
                <a:extLst>
                  <a:ext uri="{0D108BD9-81ED-4DB2-BD59-A6C34878D82A}">
                    <a16:rowId xmlns:a16="http://schemas.microsoft.com/office/drawing/2014/main" val="1138389575"/>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707966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6</a:t>
            </a:r>
            <a:endParaRPr lang="en-US" sz="8000" dirty="0"/>
          </a:p>
        </p:txBody>
      </p:sp>
      <p:sp>
        <p:nvSpPr>
          <p:cNvPr id="3" name="TextBox 2"/>
          <p:cNvSpPr txBox="1"/>
          <p:nvPr/>
        </p:nvSpPr>
        <p:spPr>
          <a:xfrm>
            <a:off x="927100" y="4064000"/>
            <a:ext cx="5943600" cy="369332"/>
          </a:xfrm>
          <a:prstGeom prst="rect">
            <a:avLst/>
          </a:prstGeom>
          <a:noFill/>
        </p:spPr>
        <p:txBody>
          <a:bodyPr wrap="square" rtlCol="0">
            <a:spAutoFit/>
          </a:bodyPr>
          <a:lstStyle/>
          <a:p>
            <a:r>
              <a:rPr lang="en-US" dirty="0"/>
              <a:t>(Creating Connected Customer Relationships)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9534917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2390"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65359" y="1876997"/>
            <a:ext cx="1097280" cy="2378834"/>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388328"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11297"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34266"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42390" y="1021148"/>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Customer Journey</a:t>
            </a:r>
          </a:p>
        </p:txBody>
      </p:sp>
      <p:sp>
        <p:nvSpPr>
          <p:cNvPr id="16" name="TextBox 15"/>
          <p:cNvSpPr txBox="1"/>
          <p:nvPr/>
        </p:nvSpPr>
        <p:spPr>
          <a:xfrm>
            <a:off x="214587" y="1418168"/>
            <a:ext cx="2018278" cy="430887"/>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2331518" y="1417143"/>
            <a:ext cx="3360725" cy="430887"/>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395924" y="1416118"/>
            <a:ext cx="2018278" cy="430887"/>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TextBox 13"/>
          <p:cNvSpPr txBox="1"/>
          <p:nvPr/>
        </p:nvSpPr>
        <p:spPr>
          <a:xfrm>
            <a:off x="491613" y="324465"/>
            <a:ext cx="7236542" cy="369332"/>
          </a:xfrm>
          <a:prstGeom prst="rect">
            <a:avLst/>
          </a:prstGeom>
          <a:noFill/>
        </p:spPr>
        <p:txBody>
          <a:bodyPr wrap="square" rtlCol="0">
            <a:spAutoFit/>
          </a:bodyPr>
          <a:lstStyle/>
          <a:p>
            <a:r>
              <a:rPr lang="en-US" b="1" dirty="0"/>
              <a:t>Step 1: Map the current customer journey of one customer experience</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337818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42390"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65359" y="1876997"/>
            <a:ext cx="1097280" cy="2378834"/>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388328"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11297"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34266"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1876997"/>
            <a:ext cx="1097280" cy="237883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42390" y="1021148"/>
            <a:ext cx="9001609" cy="369332"/>
          </a:xfrm>
          <a:prstGeom prst="rect">
            <a:avLst/>
          </a:prstGeom>
          <a:noFill/>
          <a:ln>
            <a:solidFill>
              <a:schemeClr val="bg1">
                <a:lumMod val="65000"/>
              </a:schemeClr>
            </a:solidFill>
          </a:ln>
        </p:spPr>
        <p:txBody>
          <a:bodyPr wrap="square" rtlCol="0">
            <a:spAutoFit/>
          </a:bodyPr>
          <a:lstStyle/>
          <a:p>
            <a:pPr algn="ctr"/>
            <a:r>
              <a:rPr lang="en-US" b="1" kern="800" spc="400" dirty="0">
                <a:solidFill>
                  <a:schemeClr val="bg1">
                    <a:lumMod val="65000"/>
                  </a:schemeClr>
                </a:solidFill>
              </a:rPr>
              <a:t>Willingness-to-Pay Drivers and Pain Points</a:t>
            </a:r>
          </a:p>
        </p:txBody>
      </p:sp>
      <p:sp>
        <p:nvSpPr>
          <p:cNvPr id="16" name="TextBox 15"/>
          <p:cNvSpPr txBox="1"/>
          <p:nvPr/>
        </p:nvSpPr>
        <p:spPr>
          <a:xfrm>
            <a:off x="214587" y="1418168"/>
            <a:ext cx="2018278" cy="430887"/>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2331518" y="1417143"/>
            <a:ext cx="3360725" cy="430887"/>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395924" y="1416118"/>
            <a:ext cx="2018278" cy="430887"/>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TextBox 13"/>
          <p:cNvSpPr txBox="1"/>
          <p:nvPr/>
        </p:nvSpPr>
        <p:spPr>
          <a:xfrm>
            <a:off x="491613" y="324465"/>
            <a:ext cx="7236542" cy="369332"/>
          </a:xfrm>
          <a:prstGeom prst="rect">
            <a:avLst/>
          </a:prstGeom>
          <a:noFill/>
        </p:spPr>
        <p:txBody>
          <a:bodyPr wrap="square" rtlCol="0">
            <a:spAutoFit/>
          </a:bodyPr>
          <a:lstStyle/>
          <a:p>
            <a:r>
              <a:rPr lang="en-US" b="1" dirty="0"/>
              <a:t>Step 2: Identify customer willingness-to-pay drivers and pain points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03433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5078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2038206" y="1827476"/>
            <a:ext cx="964835" cy="469207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3025629"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401305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5000475"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987899"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975322"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7962747" y="1827476"/>
            <a:ext cx="964835" cy="469207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9" name="TextBox 18"/>
          <p:cNvSpPr txBox="1"/>
          <p:nvPr/>
        </p:nvSpPr>
        <p:spPr>
          <a:xfrm>
            <a:off x="107766" y="847321"/>
            <a:ext cx="8858105" cy="384774"/>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Information Flows</a:t>
            </a:r>
          </a:p>
        </p:txBody>
      </p:sp>
      <p:sp>
        <p:nvSpPr>
          <p:cNvPr id="16" name="TextBox 15"/>
          <p:cNvSpPr txBox="1"/>
          <p:nvPr/>
        </p:nvSpPr>
        <p:spPr>
          <a:xfrm>
            <a:off x="1114265" y="1260940"/>
            <a:ext cx="1774666" cy="448902"/>
          </a:xfrm>
          <a:prstGeom prst="rect">
            <a:avLst/>
          </a:prstGeom>
          <a:noFill/>
        </p:spPr>
        <p:txBody>
          <a:bodyPr wrap="square" rtlCol="0">
            <a:spAutoFit/>
          </a:bodyPr>
          <a:lstStyle/>
          <a:p>
            <a:r>
              <a:rPr lang="en-US" sz="1100" b="1" dirty="0"/>
              <a:t>Why </a:t>
            </a:r>
            <a:r>
              <a:rPr lang="en-US" sz="1100" dirty="0"/>
              <a:t>does the customer engage in the interaction? </a:t>
            </a:r>
          </a:p>
        </p:txBody>
      </p:sp>
      <p:sp>
        <p:nvSpPr>
          <p:cNvPr id="17" name="TextBox 16"/>
          <p:cNvSpPr txBox="1"/>
          <p:nvPr/>
        </p:nvSpPr>
        <p:spPr>
          <a:xfrm>
            <a:off x="3033745" y="1259872"/>
            <a:ext cx="2955075" cy="448902"/>
          </a:xfrm>
          <a:prstGeom prst="rect">
            <a:avLst/>
          </a:prstGeom>
          <a:noFill/>
        </p:spPr>
        <p:txBody>
          <a:bodyPr wrap="square" rtlCol="0">
            <a:spAutoFit/>
          </a:bodyPr>
          <a:lstStyle/>
          <a:p>
            <a:pPr lvl="0"/>
            <a:r>
              <a:rPr lang="en-US" sz="1100" b="1" dirty="0"/>
              <a:t>How</a:t>
            </a:r>
            <a:r>
              <a:rPr lang="en-US" sz="1100" dirty="0"/>
              <a:t> does the customer go about identifying, ordering, and paying for the desired product?</a:t>
            </a:r>
          </a:p>
        </p:txBody>
      </p:sp>
      <p:sp>
        <p:nvSpPr>
          <p:cNvPr id="18" name="TextBox 17"/>
          <p:cNvSpPr txBox="1"/>
          <p:nvPr/>
        </p:nvSpPr>
        <p:spPr>
          <a:xfrm>
            <a:off x="6469093" y="1258804"/>
            <a:ext cx="1774666" cy="448902"/>
          </a:xfrm>
          <a:prstGeom prst="rect">
            <a:avLst/>
          </a:prstGeom>
          <a:noFill/>
        </p:spPr>
        <p:txBody>
          <a:bodyPr wrap="square" rtlCol="0">
            <a:spAutoFit/>
          </a:bodyPr>
          <a:lstStyle/>
          <a:p>
            <a:pPr lvl="0"/>
            <a:r>
              <a:rPr lang="en-US" sz="1100" b="1" dirty="0"/>
              <a:t>What</a:t>
            </a:r>
            <a:r>
              <a:rPr lang="en-US" sz="1100" dirty="0"/>
              <a:t> products and services are provided to the customer? </a:t>
            </a:r>
          </a:p>
        </p:txBody>
      </p:sp>
      <p:sp>
        <p:nvSpPr>
          <p:cNvPr id="14" name="Rectangle 13"/>
          <p:cNvSpPr/>
          <p:nvPr/>
        </p:nvSpPr>
        <p:spPr>
          <a:xfrm>
            <a:off x="107766" y="3503654"/>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5" name="Rectangle 14"/>
          <p:cNvSpPr/>
          <p:nvPr/>
        </p:nvSpPr>
        <p:spPr>
          <a:xfrm>
            <a:off x="107766" y="3857486"/>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0" name="Rectangle 19"/>
          <p:cNvSpPr/>
          <p:nvPr/>
        </p:nvSpPr>
        <p:spPr>
          <a:xfrm>
            <a:off x="107766" y="4211318"/>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1" name="Rectangle 20"/>
          <p:cNvSpPr/>
          <p:nvPr/>
        </p:nvSpPr>
        <p:spPr>
          <a:xfrm>
            <a:off x="107766" y="4565150"/>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2" name="Rectangle 21"/>
          <p:cNvSpPr/>
          <p:nvPr/>
        </p:nvSpPr>
        <p:spPr>
          <a:xfrm>
            <a:off x="107766" y="4918982"/>
            <a:ext cx="8858105" cy="35383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3" name="TextBox 22"/>
          <p:cNvSpPr txBox="1"/>
          <p:nvPr/>
        </p:nvSpPr>
        <p:spPr>
          <a:xfrm>
            <a:off x="119783" y="3558458"/>
            <a:ext cx="1812745" cy="2565158"/>
          </a:xfrm>
          <a:prstGeom prst="rect">
            <a:avLst/>
          </a:prstGeom>
          <a:noFill/>
        </p:spPr>
        <p:txBody>
          <a:bodyPr wrap="square" rtlCol="0">
            <a:spAutoFit/>
          </a:bodyPr>
          <a:lstStyle/>
          <a:p>
            <a:r>
              <a:rPr lang="en-US" sz="1100" b="1" dirty="0"/>
              <a:t>Trigger</a:t>
            </a:r>
          </a:p>
          <a:p>
            <a:endParaRPr lang="en-US" sz="1100" b="1" dirty="0"/>
          </a:p>
          <a:p>
            <a:r>
              <a:rPr lang="en-US" sz="1100" b="1" dirty="0"/>
              <a:t>Frequency</a:t>
            </a:r>
          </a:p>
          <a:p>
            <a:endParaRPr lang="en-US" sz="1100" b="1" dirty="0"/>
          </a:p>
          <a:p>
            <a:r>
              <a:rPr lang="en-US" sz="1100" b="1" dirty="0"/>
              <a:t>Richness</a:t>
            </a:r>
          </a:p>
          <a:p>
            <a:endParaRPr lang="en-US" sz="1100" b="1" dirty="0"/>
          </a:p>
          <a:p>
            <a:r>
              <a:rPr lang="en-US" sz="1100" b="1" dirty="0"/>
              <a:t>Customer effort</a:t>
            </a:r>
          </a:p>
          <a:p>
            <a:endParaRPr lang="en-US" sz="1100" b="1" dirty="0"/>
          </a:p>
          <a:p>
            <a:r>
              <a:rPr lang="en-US" sz="1100" b="1" dirty="0"/>
              <a:t>Action by</a:t>
            </a:r>
          </a:p>
          <a:p>
            <a:endParaRPr lang="en-US" sz="1100" b="1" dirty="0"/>
          </a:p>
          <a:p>
            <a:endParaRPr lang="en-US" sz="1100" b="1" dirty="0"/>
          </a:p>
          <a:p>
            <a:endParaRPr lang="en-US" sz="1100" b="1" dirty="0"/>
          </a:p>
          <a:p>
            <a:r>
              <a:rPr lang="en-US" sz="1100" b="1" dirty="0"/>
              <a:t>Improvement</a:t>
            </a:r>
          </a:p>
          <a:p>
            <a:r>
              <a:rPr lang="en-US" sz="1100" b="1" dirty="0"/>
              <a:t>Ideas</a:t>
            </a:r>
            <a:endParaRPr lang="en-US" sz="1100" dirty="0"/>
          </a:p>
        </p:txBody>
      </p:sp>
      <p:sp>
        <p:nvSpPr>
          <p:cNvPr id="24" name="Rectangle 23"/>
          <p:cNvSpPr/>
          <p:nvPr/>
        </p:nvSpPr>
        <p:spPr>
          <a:xfrm>
            <a:off x="103936" y="5277354"/>
            <a:ext cx="8858105" cy="117868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5" name="Rectangle 24"/>
          <p:cNvSpPr/>
          <p:nvPr/>
        </p:nvSpPr>
        <p:spPr>
          <a:xfrm>
            <a:off x="107766" y="2522478"/>
            <a:ext cx="8858105" cy="97560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extBox 1"/>
          <p:cNvSpPr txBox="1"/>
          <p:nvPr/>
        </p:nvSpPr>
        <p:spPr>
          <a:xfrm>
            <a:off x="98845" y="2845497"/>
            <a:ext cx="913648" cy="448902"/>
          </a:xfrm>
          <a:prstGeom prst="rect">
            <a:avLst/>
          </a:prstGeom>
          <a:noFill/>
        </p:spPr>
        <p:txBody>
          <a:bodyPr wrap="none" rtlCol="0">
            <a:spAutoFit/>
          </a:bodyPr>
          <a:lstStyle/>
          <a:p>
            <a:r>
              <a:rPr lang="en-US" sz="1100" b="1" dirty="0"/>
              <a:t>Description of </a:t>
            </a:r>
          </a:p>
          <a:p>
            <a:r>
              <a:rPr lang="en-US" sz="1100" b="1" dirty="0"/>
              <a:t>Information</a:t>
            </a:r>
          </a:p>
        </p:txBody>
      </p:sp>
      <p:sp>
        <p:nvSpPr>
          <p:cNvPr id="26" name="TextBox 25"/>
          <p:cNvSpPr txBox="1"/>
          <p:nvPr/>
        </p:nvSpPr>
        <p:spPr>
          <a:xfrm>
            <a:off x="277199" y="242350"/>
            <a:ext cx="6885907" cy="369332"/>
          </a:xfrm>
          <a:prstGeom prst="rect">
            <a:avLst/>
          </a:prstGeom>
          <a:noFill/>
        </p:spPr>
        <p:txBody>
          <a:bodyPr wrap="square" rtlCol="0">
            <a:spAutoFit/>
          </a:bodyPr>
          <a:lstStyle/>
          <a:p>
            <a:r>
              <a:rPr lang="en-US" b="1" dirty="0"/>
              <a:t>Step 3: Capture the information flows for this customer experience</a:t>
            </a:r>
          </a:p>
        </p:txBody>
      </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419548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Freeform 7"/>
          <p:cNvSpPr/>
          <p:nvPr/>
        </p:nvSpPr>
        <p:spPr>
          <a:xfrm>
            <a:off x="3119149" y="2418246"/>
            <a:ext cx="1631612" cy="334689"/>
          </a:xfrm>
          <a:custGeom>
            <a:avLst/>
            <a:gdLst/>
            <a:ahLst/>
            <a:cxnLst/>
            <a:rect l="0" t="0" r="0" b="0"/>
            <a:pathLst>
              <a:path>
                <a:moveTo>
                  <a:pt x="1631612" y="0"/>
                </a:moveTo>
                <a:lnTo>
                  <a:pt x="1631612" y="167344"/>
                </a:lnTo>
                <a:lnTo>
                  <a:pt x="0" y="167344"/>
                </a:lnTo>
                <a:lnTo>
                  <a:pt x="0"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0" name="Freeform 9"/>
          <p:cNvSpPr/>
          <p:nvPr/>
        </p:nvSpPr>
        <p:spPr>
          <a:xfrm>
            <a:off x="2297683" y="3720623"/>
            <a:ext cx="815806" cy="334689"/>
          </a:xfrm>
          <a:custGeom>
            <a:avLst/>
            <a:gdLst/>
            <a:ahLst/>
            <a:cxnLst/>
            <a:rect l="0" t="0" r="0" b="0"/>
            <a:pathLst>
              <a:path>
                <a:moveTo>
                  <a:pt x="815806" y="0"/>
                </a:moveTo>
                <a:lnTo>
                  <a:pt x="815806" y="167344"/>
                </a:lnTo>
                <a:lnTo>
                  <a:pt x="0" y="167344"/>
                </a:lnTo>
                <a:lnTo>
                  <a:pt x="0" y="334689"/>
                </a:lnTo>
              </a:path>
            </a:pathLst>
          </a:custGeom>
          <a:noFill/>
          <a:ln w="9525">
            <a:solidFill>
              <a:schemeClr val="tx1"/>
            </a:solidFill>
          </a:ln>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2" name="Freeform 11"/>
          <p:cNvSpPr/>
          <p:nvPr/>
        </p:nvSpPr>
        <p:spPr>
          <a:xfrm>
            <a:off x="3113489" y="3720623"/>
            <a:ext cx="815806" cy="334689"/>
          </a:xfrm>
          <a:custGeom>
            <a:avLst/>
            <a:gdLst/>
            <a:ahLst/>
            <a:cxnLst/>
            <a:rect l="0" t="0" r="0" b="0"/>
            <a:pathLst>
              <a:path>
                <a:moveTo>
                  <a:pt x="0" y="0"/>
                </a:moveTo>
                <a:lnTo>
                  <a:pt x="0" y="167344"/>
                </a:lnTo>
                <a:lnTo>
                  <a:pt x="815806" y="167344"/>
                </a:lnTo>
                <a:lnTo>
                  <a:pt x="815806" y="334689"/>
                </a:lnTo>
              </a:path>
            </a:pathLst>
          </a:custGeom>
          <a:noFill/>
          <a:ln w="9525">
            <a:solidFill>
              <a:schemeClr val="tx1"/>
            </a:solidFill>
          </a:ln>
        </p:spPr>
        <p:style>
          <a:lnRef idx="2">
            <a:schemeClr val="accent1">
              <a:shade val="8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4" name="Freeform 13"/>
          <p:cNvSpPr/>
          <p:nvPr/>
        </p:nvSpPr>
        <p:spPr>
          <a:xfrm>
            <a:off x="4707419" y="2426331"/>
            <a:ext cx="91440" cy="334689"/>
          </a:xfrm>
          <a:custGeom>
            <a:avLst/>
            <a:gdLst/>
            <a:ahLst/>
            <a:cxnLst/>
            <a:rect l="0" t="0" r="0" b="0"/>
            <a:pathLst>
              <a:path>
                <a:moveTo>
                  <a:pt x="45720" y="0"/>
                </a:moveTo>
                <a:lnTo>
                  <a:pt x="45720"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16" name="Freeform 15"/>
          <p:cNvSpPr/>
          <p:nvPr/>
        </p:nvSpPr>
        <p:spPr>
          <a:xfrm>
            <a:off x="4750762" y="2418246"/>
            <a:ext cx="1631612" cy="334689"/>
          </a:xfrm>
          <a:custGeom>
            <a:avLst/>
            <a:gdLst/>
            <a:ahLst/>
            <a:cxnLst/>
            <a:rect l="0" t="0" r="0" b="0"/>
            <a:pathLst>
              <a:path>
                <a:moveTo>
                  <a:pt x="0" y="0"/>
                </a:moveTo>
                <a:lnTo>
                  <a:pt x="0" y="167344"/>
                </a:lnTo>
                <a:lnTo>
                  <a:pt x="1631612" y="167344"/>
                </a:lnTo>
                <a:lnTo>
                  <a:pt x="1631612" y="334689"/>
                </a:lnTo>
              </a:path>
            </a:pathLst>
          </a:custGeom>
          <a:noFill/>
          <a:ln w="9525">
            <a:solidFill>
              <a:schemeClr val="tx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lang="es-MX"/>
          </a:p>
        </p:txBody>
      </p:sp>
      <p:sp>
        <p:nvSpPr>
          <p:cNvPr id="55" name="TextBox 54"/>
          <p:cNvSpPr txBox="1"/>
          <p:nvPr/>
        </p:nvSpPr>
        <p:spPr>
          <a:xfrm>
            <a:off x="247135" y="907319"/>
            <a:ext cx="5988114" cy="307777"/>
          </a:xfrm>
          <a:prstGeom prst="rect">
            <a:avLst/>
          </a:prstGeom>
          <a:noFill/>
        </p:spPr>
        <p:txBody>
          <a:bodyPr wrap="none" rtlCol="0">
            <a:spAutoFit/>
          </a:bodyPr>
          <a:lstStyle/>
          <a:p>
            <a:r>
              <a:rPr lang="en-US" sz="1400" dirty="0"/>
              <a:t>In the eyes of the customer, the purpose of the relationship with our firm is to…</a:t>
            </a:r>
          </a:p>
        </p:txBody>
      </p:sp>
      <p:sp>
        <p:nvSpPr>
          <p:cNvPr id="19" name="Rectangle 18"/>
          <p:cNvSpPr/>
          <p:nvPr/>
        </p:nvSpPr>
        <p:spPr>
          <a:xfrm>
            <a:off x="5851898" y="2749266"/>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6" name="Rectangle 25"/>
          <p:cNvSpPr/>
          <p:nvPr/>
        </p:nvSpPr>
        <p:spPr>
          <a:xfrm>
            <a:off x="4205885" y="1460841"/>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7" name="Rectangle 26"/>
          <p:cNvSpPr/>
          <p:nvPr/>
        </p:nvSpPr>
        <p:spPr>
          <a:xfrm>
            <a:off x="2535104" y="2752935"/>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28" name="Rectangle 27"/>
          <p:cNvSpPr/>
          <p:nvPr/>
        </p:nvSpPr>
        <p:spPr>
          <a:xfrm>
            <a:off x="4205884" y="2749266"/>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34" name="TextBox 33"/>
          <p:cNvSpPr txBox="1"/>
          <p:nvPr/>
        </p:nvSpPr>
        <p:spPr>
          <a:xfrm>
            <a:off x="659230" y="1751869"/>
            <a:ext cx="514821" cy="307777"/>
          </a:xfrm>
          <a:prstGeom prst="rect">
            <a:avLst/>
          </a:prstGeom>
          <a:noFill/>
          <a:ln w="9525">
            <a:noFill/>
          </a:ln>
        </p:spPr>
        <p:txBody>
          <a:bodyPr wrap="none" rtlCol="0">
            <a:spAutoFit/>
          </a:bodyPr>
          <a:lstStyle/>
          <a:p>
            <a:r>
              <a:rPr lang="en-US" sz="1400" i="1" dirty="0"/>
              <a:t>Why</a:t>
            </a:r>
          </a:p>
        </p:txBody>
      </p:sp>
      <p:sp>
        <p:nvSpPr>
          <p:cNvPr id="36" name="TextBox 35"/>
          <p:cNvSpPr txBox="1"/>
          <p:nvPr/>
        </p:nvSpPr>
        <p:spPr>
          <a:xfrm>
            <a:off x="659230" y="4348639"/>
            <a:ext cx="515590" cy="307777"/>
          </a:xfrm>
          <a:prstGeom prst="rect">
            <a:avLst/>
          </a:prstGeom>
          <a:noFill/>
          <a:ln w="9525">
            <a:noFill/>
          </a:ln>
        </p:spPr>
        <p:txBody>
          <a:bodyPr wrap="none" rtlCol="0">
            <a:spAutoFit/>
          </a:bodyPr>
          <a:lstStyle/>
          <a:p>
            <a:r>
              <a:rPr lang="en-US" sz="1400" i="1" dirty="0"/>
              <a:t>How</a:t>
            </a:r>
          </a:p>
        </p:txBody>
      </p:sp>
      <p:sp>
        <p:nvSpPr>
          <p:cNvPr id="37" name="Rectangle 36"/>
          <p:cNvSpPr/>
          <p:nvPr/>
        </p:nvSpPr>
        <p:spPr>
          <a:xfrm>
            <a:off x="1730074" y="4055312"/>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sp>
        <p:nvSpPr>
          <p:cNvPr id="38" name="Rectangle 37"/>
          <p:cNvSpPr/>
          <p:nvPr/>
        </p:nvSpPr>
        <p:spPr>
          <a:xfrm>
            <a:off x="3410246" y="4055312"/>
            <a:ext cx="1135217" cy="955986"/>
          </a:xfrm>
          <a:prstGeom prst="rect">
            <a:avLst/>
          </a:prstGeom>
          <a:solidFill>
            <a:schemeClr val="bg1"/>
          </a:solidFill>
          <a:ln w="95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200" dirty="0">
              <a:solidFill>
                <a:schemeClr val="tx1"/>
              </a:solidFill>
            </a:endParaRPr>
          </a:p>
        </p:txBody>
      </p:sp>
      <p:cxnSp>
        <p:nvCxnSpPr>
          <p:cNvPr id="39" name="Straight Arrow Connector 38"/>
          <p:cNvCxnSpPr/>
          <p:nvPr/>
        </p:nvCxnSpPr>
        <p:spPr>
          <a:xfrm flipV="1">
            <a:off x="955018" y="2121202"/>
            <a:ext cx="0" cy="2173518"/>
          </a:xfrm>
          <a:prstGeom prst="straightConnector1">
            <a:avLst/>
          </a:prstGeom>
          <a:ln w="9525">
            <a:solidFill>
              <a:schemeClr val="tx1"/>
            </a:solidFill>
            <a:headEnd type="triangl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91613" y="324465"/>
            <a:ext cx="7236542" cy="369332"/>
          </a:xfrm>
          <a:prstGeom prst="rect">
            <a:avLst/>
          </a:prstGeom>
          <a:noFill/>
        </p:spPr>
        <p:txBody>
          <a:bodyPr wrap="square" rtlCol="0">
            <a:spAutoFit/>
          </a:bodyPr>
          <a:lstStyle/>
          <a:p>
            <a:r>
              <a:rPr lang="en-US" b="1" dirty="0"/>
              <a:t>Step 4: Identify the deeper needs of the customer</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4012909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5: Understand the current relationship with your customer across separate (repeated) customer experiences</a:t>
            </a:r>
          </a:p>
        </p:txBody>
      </p:sp>
      <p:graphicFrame>
        <p:nvGraphicFramePr>
          <p:cNvPr id="4" name="Table 3"/>
          <p:cNvGraphicFramePr>
            <a:graphicFrameLocks noGrp="1"/>
          </p:cNvGraphicFramePr>
          <p:nvPr>
            <p:extLst>
              <p:ext uri="{D42A27DB-BD31-4B8C-83A1-F6EECF244321}">
                <p14:modId xmlns:p14="http://schemas.microsoft.com/office/powerpoint/2010/main" val="940023002"/>
              </p:ext>
            </p:extLst>
          </p:nvPr>
        </p:nvGraphicFramePr>
        <p:xfrm>
          <a:off x="599768" y="1432028"/>
          <a:ext cx="7639664" cy="247904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do you identify the customer and connect him or her to prior customer experiences?</a:t>
                      </a:r>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Is this identification</a:t>
                      </a:r>
                      <a:r>
                        <a:rPr lang="en-US" sz="1200" baseline="0" dirty="0"/>
                        <a:t> requiring time and effort form the customer?</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Is this</a:t>
                      </a:r>
                      <a:r>
                        <a:rPr lang="en-US" sz="1200" baseline="0" dirty="0"/>
                        <a:t> identification costly to your firm?</a:t>
                      </a:r>
                      <a:endParaRPr lang="en-US" sz="1200" dirty="0"/>
                    </a:p>
                  </a:txBody>
                  <a:tcPr/>
                </a:tc>
                <a:tc>
                  <a:txBody>
                    <a:bodyPr/>
                    <a:lstStyle/>
                    <a:p>
                      <a:endParaRPr lang="en-US" sz="1200" dirty="0"/>
                    </a:p>
                  </a:txBody>
                  <a:tcPr/>
                </a:tc>
                <a:extLst>
                  <a:ext uri="{0D108BD9-81ED-4DB2-BD59-A6C34878D82A}">
                    <a16:rowId xmlns:a16="http://schemas.microsoft.com/office/drawing/2014/main" val="454772425"/>
                  </a:ext>
                </a:extLst>
              </a:tr>
              <a:tr h="370840">
                <a:tc>
                  <a:txBody>
                    <a:bodyPr/>
                    <a:lstStyle/>
                    <a:p>
                      <a:r>
                        <a:rPr lang="en-US" sz="1200" dirty="0"/>
                        <a:t>What</a:t>
                      </a:r>
                      <a:r>
                        <a:rPr lang="en-US" sz="1200" baseline="0" dirty="0"/>
                        <a:t> organizational incentives are in place (or what disincentives need to be removed) so that various parts of your organization share the information they have about a particular customer?</a:t>
                      </a:r>
                      <a:endParaRPr lang="en-US" sz="1200" dirty="0"/>
                    </a:p>
                  </a:txBody>
                  <a:tcPr/>
                </a:tc>
                <a:tc>
                  <a:txBody>
                    <a:bodyPr/>
                    <a:lstStyle/>
                    <a:p>
                      <a:endParaRPr lang="en-US" sz="1200" dirty="0"/>
                    </a:p>
                  </a:txBody>
                  <a:tcPr/>
                </a:tc>
                <a:extLst>
                  <a:ext uri="{0D108BD9-81ED-4DB2-BD59-A6C34878D82A}">
                    <a16:rowId xmlns:a16="http://schemas.microsoft.com/office/drawing/2014/main" val="3109560704"/>
                  </a:ext>
                </a:extLst>
              </a:tr>
            </a:tbl>
          </a:graphicData>
        </a:graphic>
      </p:graphicFrame>
      <p:sp>
        <p:nvSpPr>
          <p:cNvPr id="2" name="TextBox 1"/>
          <p:cNvSpPr txBox="1"/>
          <p:nvPr/>
        </p:nvSpPr>
        <p:spPr>
          <a:xfrm>
            <a:off x="599768" y="1091381"/>
            <a:ext cx="6213987" cy="276999"/>
          </a:xfrm>
          <a:prstGeom prst="rect">
            <a:avLst/>
          </a:prstGeom>
          <a:noFill/>
        </p:spPr>
        <p:txBody>
          <a:bodyPr wrap="square" rtlCol="0">
            <a:spAutoFit/>
          </a:bodyPr>
          <a:lstStyle/>
          <a:p>
            <a:r>
              <a:rPr lang="en-US" sz="1200" i="1" dirty="0"/>
              <a:t>A) Identify the customer and retrieve data</a:t>
            </a:r>
          </a:p>
        </p:txBody>
      </p:sp>
      <p:graphicFrame>
        <p:nvGraphicFramePr>
          <p:cNvPr id="7" name="Table 6"/>
          <p:cNvGraphicFramePr>
            <a:graphicFrameLocks noGrp="1"/>
          </p:cNvGraphicFramePr>
          <p:nvPr>
            <p:extLst>
              <p:ext uri="{D42A27DB-BD31-4B8C-83A1-F6EECF244321}">
                <p14:modId xmlns:p14="http://schemas.microsoft.com/office/powerpoint/2010/main" val="588154968"/>
              </p:ext>
            </p:extLst>
          </p:nvPr>
        </p:nvGraphicFramePr>
        <p:xfrm>
          <a:off x="599768" y="4461061"/>
          <a:ext cx="7639664" cy="192532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 do we improve customization</a:t>
                      </a:r>
                      <a:r>
                        <a:rPr lang="en-US" sz="1200" baseline="0" dirty="0"/>
                        <a:t> for a particular customer based on information that we have gathered about this customer?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feedback do we gather from the customer to understand whether a particular</a:t>
                      </a:r>
                      <a:r>
                        <a:rPr lang="en-US" sz="1200" baseline="0" dirty="0"/>
                        <a:t> solution worked well?</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Can the customer make</a:t>
                      </a:r>
                      <a:r>
                        <a:rPr lang="en-US" sz="1200" baseline="0" dirty="0"/>
                        <a:t> direct suggestions to us of how to improve our product or service?</a:t>
                      </a:r>
                      <a:endParaRPr lang="en-US" sz="1200" dirty="0"/>
                    </a:p>
                  </a:txBody>
                  <a:tcPr/>
                </a:tc>
                <a:tc>
                  <a:txBody>
                    <a:bodyPr/>
                    <a:lstStyle/>
                    <a:p>
                      <a:endParaRPr lang="en-US" sz="1200" dirty="0"/>
                    </a:p>
                  </a:txBody>
                  <a:tcPr/>
                </a:tc>
                <a:extLst>
                  <a:ext uri="{0D108BD9-81ED-4DB2-BD59-A6C34878D82A}">
                    <a16:rowId xmlns:a16="http://schemas.microsoft.com/office/drawing/2014/main" val="454772425"/>
                  </a:ext>
                </a:extLst>
              </a:tr>
            </a:tbl>
          </a:graphicData>
        </a:graphic>
      </p:graphicFrame>
      <p:sp>
        <p:nvSpPr>
          <p:cNvPr id="8" name="TextBox 7"/>
          <p:cNvSpPr txBox="1"/>
          <p:nvPr/>
        </p:nvSpPr>
        <p:spPr>
          <a:xfrm>
            <a:off x="599768" y="4120414"/>
            <a:ext cx="6213987" cy="276999"/>
          </a:xfrm>
          <a:prstGeom prst="rect">
            <a:avLst/>
          </a:prstGeom>
          <a:noFill/>
        </p:spPr>
        <p:txBody>
          <a:bodyPr wrap="square" rtlCol="0">
            <a:spAutoFit/>
          </a:bodyPr>
          <a:lstStyle/>
          <a:p>
            <a:r>
              <a:rPr lang="en-US" sz="1200" i="1" dirty="0"/>
              <a:t>B) Customization</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292523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91613" y="324465"/>
            <a:ext cx="6695768" cy="646331"/>
          </a:xfrm>
          <a:prstGeom prst="rect">
            <a:avLst/>
          </a:prstGeom>
          <a:noFill/>
        </p:spPr>
        <p:txBody>
          <a:bodyPr wrap="square" rtlCol="0">
            <a:spAutoFit/>
          </a:bodyPr>
          <a:lstStyle/>
          <a:p>
            <a:pPr marL="744538" indent="-744538"/>
            <a:r>
              <a:rPr lang="en-US" b="1" dirty="0"/>
              <a:t>Step 5: Understand the current relationship with your customer across separate (repeated) customer experiences</a:t>
            </a:r>
          </a:p>
        </p:txBody>
      </p:sp>
      <p:graphicFrame>
        <p:nvGraphicFramePr>
          <p:cNvPr id="4" name="Table 3"/>
          <p:cNvGraphicFramePr>
            <a:graphicFrameLocks noGrp="1"/>
          </p:cNvGraphicFramePr>
          <p:nvPr>
            <p:extLst>
              <p:ext uri="{D42A27DB-BD31-4B8C-83A1-F6EECF244321}">
                <p14:modId xmlns:p14="http://schemas.microsoft.com/office/powerpoint/2010/main" val="4036768412"/>
              </p:ext>
            </p:extLst>
          </p:nvPr>
        </p:nvGraphicFramePr>
        <p:xfrm>
          <a:off x="599768" y="1432028"/>
          <a:ext cx="7639664" cy="210820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How</a:t>
                      </a:r>
                      <a:r>
                        <a:rPr lang="en-US" sz="1200" baseline="0" dirty="0"/>
                        <a:t> do we currently use population (or market-segment) level data to improve our product assortment?</a:t>
                      </a:r>
                      <a:endParaRPr lang="en-US" sz="1200" dirty="0"/>
                    </a:p>
                  </a:txBody>
                  <a:tcPr/>
                </a:tc>
                <a:tc>
                  <a:txBody>
                    <a:bodyPr/>
                    <a:lstStyle/>
                    <a:p>
                      <a:endParaRPr lang="en-US" sz="1200"/>
                    </a:p>
                  </a:txBody>
                  <a:tcPr/>
                </a:tc>
                <a:extLst>
                  <a:ext uri="{0D108BD9-81ED-4DB2-BD59-A6C34878D82A}">
                    <a16:rowId xmlns:a16="http://schemas.microsoft.com/office/drawing/2014/main" val="3101775882"/>
                  </a:ext>
                </a:extLst>
              </a:tr>
              <a:tr h="370840">
                <a:tc>
                  <a:txBody>
                    <a:bodyPr/>
                    <a:lstStyle/>
                    <a:p>
                      <a:r>
                        <a:rPr lang="en-US" sz="1200" dirty="0"/>
                        <a:t>How do we currently use population (or market-segment level data to refine features of existing products?</a:t>
                      </a:r>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How do we currently use population (or market-segment level data to create entirely new products?</a:t>
                      </a:r>
                    </a:p>
                  </a:txBody>
                  <a:tcPr/>
                </a:tc>
                <a:tc>
                  <a:txBody>
                    <a:bodyPr/>
                    <a:lstStyle/>
                    <a:p>
                      <a:endParaRPr lang="en-US" sz="1200" dirty="0"/>
                    </a:p>
                  </a:txBody>
                  <a:tcPr/>
                </a:tc>
                <a:extLst>
                  <a:ext uri="{0D108BD9-81ED-4DB2-BD59-A6C34878D82A}">
                    <a16:rowId xmlns:a16="http://schemas.microsoft.com/office/drawing/2014/main" val="454772425"/>
                  </a:ext>
                </a:extLst>
              </a:tr>
            </a:tbl>
          </a:graphicData>
        </a:graphic>
      </p:graphicFrame>
      <p:sp>
        <p:nvSpPr>
          <p:cNvPr id="2" name="TextBox 1"/>
          <p:cNvSpPr txBox="1"/>
          <p:nvPr/>
        </p:nvSpPr>
        <p:spPr>
          <a:xfrm>
            <a:off x="599768" y="1091381"/>
            <a:ext cx="6213987" cy="276999"/>
          </a:xfrm>
          <a:prstGeom prst="rect">
            <a:avLst/>
          </a:prstGeom>
          <a:noFill/>
        </p:spPr>
        <p:txBody>
          <a:bodyPr wrap="square" rtlCol="0">
            <a:spAutoFit/>
          </a:bodyPr>
          <a:lstStyle/>
          <a:p>
            <a:r>
              <a:rPr lang="en-US" sz="1200" i="1" dirty="0"/>
              <a:t>C) Population-level insights</a:t>
            </a:r>
          </a:p>
        </p:txBody>
      </p:sp>
      <p:graphicFrame>
        <p:nvGraphicFramePr>
          <p:cNvPr id="7" name="Table 6"/>
          <p:cNvGraphicFramePr>
            <a:graphicFrameLocks noGrp="1"/>
          </p:cNvGraphicFramePr>
          <p:nvPr>
            <p:extLst>
              <p:ext uri="{D42A27DB-BD31-4B8C-83A1-F6EECF244321}">
                <p14:modId xmlns:p14="http://schemas.microsoft.com/office/powerpoint/2010/main" val="2152115708"/>
              </p:ext>
            </p:extLst>
          </p:nvPr>
        </p:nvGraphicFramePr>
        <p:xfrm>
          <a:off x="599768" y="4461061"/>
          <a:ext cx="7639664" cy="1468120"/>
        </p:xfrm>
        <a:graphic>
          <a:graphicData uri="http://schemas.openxmlformats.org/drawingml/2006/table">
            <a:tbl>
              <a:tblPr firstRow="1" bandRow="1">
                <a:tableStyleId>{073A0DAA-6AF3-43AB-8588-CEC1D06C72B9}</a:tableStyleId>
              </a:tblPr>
              <a:tblGrid>
                <a:gridCol w="3677264">
                  <a:extLst>
                    <a:ext uri="{9D8B030D-6E8A-4147-A177-3AD203B41FA5}">
                      <a16:colId xmlns:a16="http://schemas.microsoft.com/office/drawing/2014/main" val="3797692139"/>
                    </a:ext>
                  </a:extLst>
                </a:gridCol>
                <a:gridCol w="3962400">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At what level in the Why-How ladder are most of our transactions currently taking place?</a:t>
                      </a:r>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would be alternative value propositions to the customer that are either more focused (HOW) or broader (WHY)?</a:t>
                      </a:r>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8" name="TextBox 7"/>
          <p:cNvSpPr txBox="1"/>
          <p:nvPr/>
        </p:nvSpPr>
        <p:spPr>
          <a:xfrm>
            <a:off x="599768" y="4120414"/>
            <a:ext cx="6213987" cy="276999"/>
          </a:xfrm>
          <a:prstGeom prst="rect">
            <a:avLst/>
          </a:prstGeom>
          <a:noFill/>
        </p:spPr>
        <p:txBody>
          <a:bodyPr wrap="square" rtlCol="0">
            <a:spAutoFit/>
          </a:bodyPr>
          <a:lstStyle/>
          <a:p>
            <a:r>
              <a:rPr lang="en-US" sz="1200" i="1" dirty="0"/>
              <a:t>D) Why-How ladder questions</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7157709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68079"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Latent need</a:t>
            </a:r>
          </a:p>
        </p:txBody>
      </p:sp>
      <p:sp>
        <p:nvSpPr>
          <p:cNvPr id="5" name="Rounded Rectangle 4"/>
          <p:cNvSpPr/>
          <p:nvPr/>
        </p:nvSpPr>
        <p:spPr>
          <a:xfrm>
            <a:off x="1291048" y="2277282"/>
            <a:ext cx="1097280" cy="189162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Awareness of need</a:t>
            </a:r>
          </a:p>
        </p:txBody>
      </p:sp>
      <p:sp>
        <p:nvSpPr>
          <p:cNvPr id="6" name="Rounded Rectangle 5"/>
          <p:cNvSpPr/>
          <p:nvPr/>
        </p:nvSpPr>
        <p:spPr>
          <a:xfrm>
            <a:off x="2414017"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Search for options</a:t>
            </a:r>
          </a:p>
        </p:txBody>
      </p:sp>
      <p:sp>
        <p:nvSpPr>
          <p:cNvPr id="7" name="Rounded Rectangle 6"/>
          <p:cNvSpPr/>
          <p:nvPr/>
        </p:nvSpPr>
        <p:spPr>
          <a:xfrm>
            <a:off x="3536986"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Decide on options</a:t>
            </a:r>
          </a:p>
        </p:txBody>
      </p:sp>
      <p:sp>
        <p:nvSpPr>
          <p:cNvPr id="8" name="Rounded Rectangle 7"/>
          <p:cNvSpPr/>
          <p:nvPr/>
        </p:nvSpPr>
        <p:spPr>
          <a:xfrm>
            <a:off x="465995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Order &amp; pay</a:t>
            </a:r>
          </a:p>
        </p:txBody>
      </p:sp>
      <p:sp>
        <p:nvSpPr>
          <p:cNvPr id="9" name="Rounded Rectangle 8"/>
          <p:cNvSpPr/>
          <p:nvPr/>
        </p:nvSpPr>
        <p:spPr>
          <a:xfrm>
            <a:off x="575723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Receive</a:t>
            </a:r>
          </a:p>
        </p:txBody>
      </p:sp>
      <p:sp>
        <p:nvSpPr>
          <p:cNvPr id="10" name="Rounded Rectangle 9"/>
          <p:cNvSpPr/>
          <p:nvPr/>
        </p:nvSpPr>
        <p:spPr>
          <a:xfrm>
            <a:off x="6880204"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Experience good/</a:t>
            </a:r>
          </a:p>
          <a:p>
            <a:pPr algn="ctr"/>
            <a:r>
              <a:rPr lang="en-US" sz="1200" dirty="0">
                <a:solidFill>
                  <a:schemeClr val="tx1"/>
                </a:solidFill>
              </a:rPr>
              <a:t>service</a:t>
            </a:r>
          </a:p>
        </p:txBody>
      </p:sp>
      <p:sp>
        <p:nvSpPr>
          <p:cNvPr id="11" name="Rounded Rectangle 10"/>
          <p:cNvSpPr/>
          <p:nvPr/>
        </p:nvSpPr>
        <p:spPr>
          <a:xfrm>
            <a:off x="8003175" y="2277282"/>
            <a:ext cx="1097280" cy="189162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sz="1200" dirty="0">
                <a:solidFill>
                  <a:schemeClr val="tx1"/>
                </a:solidFill>
              </a:rPr>
              <a:t>Post-purchase experience</a:t>
            </a:r>
          </a:p>
        </p:txBody>
      </p:sp>
      <p:sp>
        <p:nvSpPr>
          <p:cNvPr id="14" name="TextBox 13"/>
          <p:cNvSpPr txBox="1"/>
          <p:nvPr/>
        </p:nvSpPr>
        <p:spPr>
          <a:xfrm>
            <a:off x="2947837" y="1234786"/>
            <a:ext cx="1419235" cy="307777"/>
          </a:xfrm>
          <a:prstGeom prst="rect">
            <a:avLst/>
          </a:prstGeom>
          <a:noFill/>
        </p:spPr>
        <p:txBody>
          <a:bodyPr wrap="none" rtlCol="0">
            <a:spAutoFit/>
          </a:bodyPr>
          <a:lstStyle/>
          <a:p>
            <a:r>
              <a:rPr lang="en-US" sz="1400" b="1" dirty="0"/>
              <a:t>Curated Offering</a:t>
            </a:r>
          </a:p>
        </p:txBody>
      </p:sp>
      <p:cxnSp>
        <p:nvCxnSpPr>
          <p:cNvPr id="15" name="Straight Arrow Connector 14"/>
          <p:cNvCxnSpPr/>
          <p:nvPr/>
        </p:nvCxnSpPr>
        <p:spPr>
          <a:xfrm flipH="1">
            <a:off x="3245931" y="1535869"/>
            <a:ext cx="223736" cy="55463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861516" y="1573315"/>
            <a:ext cx="213109" cy="53502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253961" y="1106212"/>
            <a:ext cx="1132506" cy="523220"/>
          </a:xfrm>
          <a:prstGeom prst="rect">
            <a:avLst/>
          </a:prstGeom>
          <a:noFill/>
        </p:spPr>
        <p:txBody>
          <a:bodyPr wrap="square" rtlCol="0">
            <a:spAutoFit/>
          </a:bodyPr>
          <a:lstStyle/>
          <a:p>
            <a:pPr algn="ctr"/>
            <a:r>
              <a:rPr lang="en-US" sz="1400" b="1" dirty="0"/>
              <a:t>Coach Behavior</a:t>
            </a:r>
          </a:p>
        </p:txBody>
      </p:sp>
      <p:cxnSp>
        <p:nvCxnSpPr>
          <p:cNvPr id="22" name="Straight Arrow Connector 21"/>
          <p:cNvCxnSpPr/>
          <p:nvPr/>
        </p:nvCxnSpPr>
        <p:spPr>
          <a:xfrm>
            <a:off x="1814966" y="1634967"/>
            <a:ext cx="0" cy="5157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758734" y="881379"/>
            <a:ext cx="0" cy="118516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742950" y="885189"/>
            <a:ext cx="55285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6254806" y="876405"/>
            <a:ext cx="0" cy="114795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540842" y="530141"/>
            <a:ext cx="1728678" cy="307777"/>
          </a:xfrm>
          <a:prstGeom prst="rect">
            <a:avLst/>
          </a:prstGeom>
          <a:noFill/>
        </p:spPr>
        <p:txBody>
          <a:bodyPr wrap="none" rtlCol="0">
            <a:spAutoFit/>
          </a:bodyPr>
          <a:lstStyle/>
          <a:p>
            <a:r>
              <a:rPr lang="en-US" sz="1400" b="1" dirty="0"/>
              <a:t>Automatic Execution</a:t>
            </a:r>
          </a:p>
        </p:txBody>
      </p:sp>
      <p:sp>
        <p:nvSpPr>
          <p:cNvPr id="28" name="TextBox 27"/>
          <p:cNvSpPr txBox="1"/>
          <p:nvPr/>
        </p:nvSpPr>
        <p:spPr>
          <a:xfrm>
            <a:off x="6435053" y="1835813"/>
            <a:ext cx="1568122" cy="307777"/>
          </a:xfrm>
          <a:prstGeom prst="rect">
            <a:avLst/>
          </a:prstGeom>
          <a:noFill/>
        </p:spPr>
        <p:txBody>
          <a:bodyPr wrap="none" rtlCol="0">
            <a:spAutoFit/>
          </a:bodyPr>
          <a:lstStyle/>
          <a:p>
            <a:r>
              <a:rPr lang="en-US" sz="1400" b="1" dirty="0"/>
              <a:t>Respond-to-Desire</a:t>
            </a:r>
          </a:p>
        </p:txBody>
      </p:sp>
      <p:sp>
        <p:nvSpPr>
          <p:cNvPr id="29" name="Rounded Rectangle 28"/>
          <p:cNvSpPr/>
          <p:nvPr/>
        </p:nvSpPr>
        <p:spPr>
          <a:xfrm>
            <a:off x="174664"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0" name="Rounded Rectangle 29"/>
          <p:cNvSpPr/>
          <p:nvPr/>
        </p:nvSpPr>
        <p:spPr>
          <a:xfrm>
            <a:off x="1297633" y="5084713"/>
            <a:ext cx="1097280" cy="1648660"/>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1" name="Rounded Rectangle 30"/>
          <p:cNvSpPr/>
          <p:nvPr/>
        </p:nvSpPr>
        <p:spPr>
          <a:xfrm>
            <a:off x="2420602"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2" name="Rounded Rectangle 31"/>
          <p:cNvSpPr/>
          <p:nvPr/>
        </p:nvSpPr>
        <p:spPr>
          <a:xfrm>
            <a:off x="354357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3" name="Rounded Rectangle 32"/>
          <p:cNvSpPr/>
          <p:nvPr/>
        </p:nvSpPr>
        <p:spPr>
          <a:xfrm>
            <a:off x="4666540"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4" name="Rounded Rectangle 33"/>
          <p:cNvSpPr/>
          <p:nvPr/>
        </p:nvSpPr>
        <p:spPr>
          <a:xfrm>
            <a:off x="574213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5" name="Rounded Rectangle 34"/>
          <p:cNvSpPr/>
          <p:nvPr/>
        </p:nvSpPr>
        <p:spPr>
          <a:xfrm>
            <a:off x="6865100"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6" name="Rounded Rectangle 35"/>
          <p:cNvSpPr/>
          <p:nvPr/>
        </p:nvSpPr>
        <p:spPr>
          <a:xfrm>
            <a:off x="7988071" y="5084713"/>
            <a:ext cx="1097280" cy="16486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7" name="TextBox 36"/>
          <p:cNvSpPr txBox="1"/>
          <p:nvPr/>
        </p:nvSpPr>
        <p:spPr>
          <a:xfrm>
            <a:off x="0" y="4213614"/>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Responses to Pain Points</a:t>
            </a:r>
          </a:p>
        </p:txBody>
      </p:sp>
      <p:sp>
        <p:nvSpPr>
          <p:cNvPr id="38" name="TextBox 37"/>
          <p:cNvSpPr txBox="1"/>
          <p:nvPr/>
        </p:nvSpPr>
        <p:spPr>
          <a:xfrm>
            <a:off x="0" y="4663147"/>
            <a:ext cx="9001609" cy="369332"/>
          </a:xfrm>
          <a:prstGeom prst="rect">
            <a:avLst/>
          </a:prstGeom>
          <a:noFill/>
          <a:ln>
            <a:solidFill>
              <a:schemeClr val="bg1">
                <a:lumMod val="65000"/>
              </a:schemeClr>
            </a:solidFill>
          </a:ln>
        </p:spPr>
        <p:txBody>
          <a:bodyPr wrap="square" rtlCol="0">
            <a:spAutoFit/>
          </a:bodyPr>
          <a:lstStyle/>
          <a:p>
            <a:pPr algn="ctr"/>
            <a:r>
              <a:rPr lang="en-US" b="1" spc="600" dirty="0">
                <a:solidFill>
                  <a:schemeClr val="bg1">
                    <a:lumMod val="65000"/>
                  </a:schemeClr>
                </a:solidFill>
              </a:rPr>
              <a:t>Required Information</a:t>
            </a:r>
          </a:p>
        </p:txBody>
      </p:sp>
      <p:cxnSp>
        <p:nvCxnSpPr>
          <p:cNvPr id="39" name="Straight Arrow Connector 38"/>
          <p:cNvCxnSpPr/>
          <p:nvPr/>
        </p:nvCxnSpPr>
        <p:spPr>
          <a:xfrm>
            <a:off x="5120640" y="2176761"/>
            <a:ext cx="367999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491612" y="118154"/>
            <a:ext cx="8101781" cy="369332"/>
          </a:xfrm>
          <a:prstGeom prst="rect">
            <a:avLst/>
          </a:prstGeom>
          <a:noFill/>
        </p:spPr>
        <p:txBody>
          <a:bodyPr wrap="square" rtlCol="0">
            <a:spAutoFit/>
          </a:bodyPr>
          <a:lstStyle/>
          <a:p>
            <a:r>
              <a:rPr lang="en-US" b="1" dirty="0"/>
              <a:t>Step 6: Identify new opportunities associated with connected relationships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1736251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252373" y="225631"/>
            <a:ext cx="8128661" cy="6373444"/>
            <a:chOff x="276547" y="31990"/>
            <a:chExt cx="10691627" cy="7345490"/>
          </a:xfrm>
        </p:grpSpPr>
        <p:sp>
          <p:nvSpPr>
            <p:cNvPr id="4" name="Rounded Rectangle 3"/>
            <p:cNvSpPr/>
            <p:nvPr/>
          </p:nvSpPr>
          <p:spPr>
            <a:xfrm>
              <a:off x="303851"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5" name="Rounded Rectangle 4"/>
            <p:cNvSpPr/>
            <p:nvPr/>
          </p:nvSpPr>
          <p:spPr>
            <a:xfrm>
              <a:off x="2449015" y="778655"/>
              <a:ext cx="1097280" cy="1207593"/>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6" name="Rounded Rectangle 5"/>
            <p:cNvSpPr/>
            <p:nvPr/>
          </p:nvSpPr>
          <p:spPr>
            <a:xfrm>
              <a:off x="4594179"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7" name="Rounded Rectangle 6"/>
            <p:cNvSpPr/>
            <p:nvPr/>
          </p:nvSpPr>
          <p:spPr>
            <a:xfrm>
              <a:off x="6739343" y="778656"/>
              <a:ext cx="1097280" cy="1207592"/>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cxnSp>
          <p:nvCxnSpPr>
            <p:cNvPr id="10" name="Straight Arrow Connector 9"/>
            <p:cNvCxnSpPr/>
            <p:nvPr/>
          </p:nvCxnSpPr>
          <p:spPr>
            <a:xfrm>
              <a:off x="1501492" y="144467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3672263" y="143464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802145" y="1444677"/>
              <a:ext cx="82448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Isosceles Triangle 14"/>
            <p:cNvSpPr/>
            <p:nvPr/>
          </p:nvSpPr>
          <p:spPr>
            <a:xfrm rot="10800000">
              <a:off x="716836" y="2147204"/>
              <a:ext cx="6735337" cy="414224"/>
            </a:xfrm>
            <a:prstGeom prst="triangle">
              <a:avLst/>
            </a:prstGeom>
            <a:solidFill>
              <a:schemeClr val="bg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ounded Rectangle 15"/>
            <p:cNvSpPr/>
            <p:nvPr/>
          </p:nvSpPr>
          <p:spPr>
            <a:xfrm>
              <a:off x="303851" y="281612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7" name="Rounded Rectangle 16"/>
            <p:cNvSpPr/>
            <p:nvPr/>
          </p:nvSpPr>
          <p:spPr>
            <a:xfrm>
              <a:off x="303851" y="397386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8" name="Rounded Rectangle 17"/>
            <p:cNvSpPr/>
            <p:nvPr/>
          </p:nvSpPr>
          <p:spPr>
            <a:xfrm>
              <a:off x="303851" y="5131601"/>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9" name="Rounded Rectangle 18"/>
            <p:cNvSpPr/>
            <p:nvPr/>
          </p:nvSpPr>
          <p:spPr>
            <a:xfrm>
              <a:off x="303851" y="6289340"/>
              <a:ext cx="7631190" cy="1088137"/>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0" name="TextBox 19"/>
            <p:cNvSpPr txBox="1"/>
            <p:nvPr/>
          </p:nvSpPr>
          <p:spPr>
            <a:xfrm>
              <a:off x="276547" y="787936"/>
              <a:ext cx="918841" cy="261611"/>
            </a:xfrm>
            <a:prstGeom prst="rect">
              <a:avLst/>
            </a:prstGeom>
            <a:noFill/>
          </p:spPr>
          <p:txBody>
            <a:bodyPr wrap="none" rtlCol="0">
              <a:spAutoFit/>
            </a:bodyPr>
            <a:lstStyle/>
            <a:p>
              <a:r>
                <a:rPr lang="en-US" sz="1100" dirty="0"/>
                <a:t>Experience 1</a:t>
              </a:r>
            </a:p>
          </p:txBody>
        </p:sp>
        <p:sp>
          <p:nvSpPr>
            <p:cNvPr id="21" name="TextBox 20"/>
            <p:cNvSpPr txBox="1"/>
            <p:nvPr/>
          </p:nvSpPr>
          <p:spPr>
            <a:xfrm>
              <a:off x="2413469" y="809531"/>
              <a:ext cx="918841" cy="261611"/>
            </a:xfrm>
            <a:prstGeom prst="rect">
              <a:avLst/>
            </a:prstGeom>
            <a:noFill/>
          </p:spPr>
          <p:txBody>
            <a:bodyPr wrap="none" rtlCol="0">
              <a:spAutoFit/>
            </a:bodyPr>
            <a:lstStyle/>
            <a:p>
              <a:r>
                <a:rPr lang="en-US" sz="1100" dirty="0"/>
                <a:t>Experience 2</a:t>
              </a:r>
            </a:p>
          </p:txBody>
        </p:sp>
        <p:sp>
          <p:nvSpPr>
            <p:cNvPr id="22" name="TextBox 21"/>
            <p:cNvSpPr txBox="1"/>
            <p:nvPr/>
          </p:nvSpPr>
          <p:spPr>
            <a:xfrm>
              <a:off x="4566874" y="813248"/>
              <a:ext cx="918841" cy="261611"/>
            </a:xfrm>
            <a:prstGeom prst="rect">
              <a:avLst/>
            </a:prstGeom>
            <a:noFill/>
          </p:spPr>
          <p:txBody>
            <a:bodyPr wrap="none" rtlCol="0">
              <a:spAutoFit/>
            </a:bodyPr>
            <a:lstStyle/>
            <a:p>
              <a:r>
                <a:rPr lang="en-US" sz="1100" dirty="0"/>
                <a:t>Experience 3</a:t>
              </a:r>
            </a:p>
          </p:txBody>
        </p:sp>
        <p:sp>
          <p:nvSpPr>
            <p:cNvPr id="23" name="TextBox 22"/>
            <p:cNvSpPr txBox="1"/>
            <p:nvPr/>
          </p:nvSpPr>
          <p:spPr>
            <a:xfrm>
              <a:off x="6687989" y="816258"/>
              <a:ext cx="918841" cy="261611"/>
            </a:xfrm>
            <a:prstGeom prst="rect">
              <a:avLst/>
            </a:prstGeom>
            <a:noFill/>
          </p:spPr>
          <p:txBody>
            <a:bodyPr wrap="none" rtlCol="0">
              <a:spAutoFit/>
            </a:bodyPr>
            <a:lstStyle/>
            <a:p>
              <a:r>
                <a:rPr lang="en-US" sz="1100" dirty="0"/>
                <a:t>Experience 4</a:t>
              </a:r>
            </a:p>
          </p:txBody>
        </p:sp>
        <p:sp>
          <p:nvSpPr>
            <p:cNvPr id="24" name="TextBox 23"/>
            <p:cNvSpPr txBox="1"/>
            <p:nvPr/>
          </p:nvSpPr>
          <p:spPr>
            <a:xfrm>
              <a:off x="393070" y="2818424"/>
              <a:ext cx="1871025" cy="261610"/>
            </a:xfrm>
            <a:prstGeom prst="rect">
              <a:avLst/>
            </a:prstGeom>
            <a:noFill/>
          </p:spPr>
          <p:txBody>
            <a:bodyPr wrap="none" rtlCol="0">
              <a:spAutoFit/>
            </a:bodyPr>
            <a:lstStyle/>
            <a:p>
              <a:r>
                <a:rPr lang="en-US" sz="1100" dirty="0"/>
                <a:t>Customization Improvements</a:t>
              </a:r>
            </a:p>
          </p:txBody>
        </p:sp>
        <p:sp>
          <p:nvSpPr>
            <p:cNvPr id="25" name="TextBox 24"/>
            <p:cNvSpPr txBox="1"/>
            <p:nvPr/>
          </p:nvSpPr>
          <p:spPr>
            <a:xfrm>
              <a:off x="404804" y="3973861"/>
              <a:ext cx="2746265" cy="261610"/>
            </a:xfrm>
            <a:prstGeom prst="rect">
              <a:avLst/>
            </a:prstGeom>
            <a:noFill/>
          </p:spPr>
          <p:txBody>
            <a:bodyPr wrap="none" rtlCol="0">
              <a:spAutoFit/>
            </a:bodyPr>
            <a:lstStyle/>
            <a:p>
              <a:r>
                <a:rPr lang="en-US" sz="1100" dirty="0"/>
                <a:t>Optimization of Product and Service Offering</a:t>
              </a:r>
            </a:p>
          </p:txBody>
        </p:sp>
        <p:sp>
          <p:nvSpPr>
            <p:cNvPr id="26" name="TextBox 25"/>
            <p:cNvSpPr txBox="1"/>
            <p:nvPr/>
          </p:nvSpPr>
          <p:spPr>
            <a:xfrm>
              <a:off x="409741" y="5136301"/>
              <a:ext cx="2396810" cy="261610"/>
            </a:xfrm>
            <a:prstGeom prst="rect">
              <a:avLst/>
            </a:prstGeom>
            <a:noFill/>
          </p:spPr>
          <p:txBody>
            <a:bodyPr wrap="none" rtlCol="0">
              <a:spAutoFit/>
            </a:bodyPr>
            <a:lstStyle/>
            <a:p>
              <a:r>
                <a:rPr lang="en-US" sz="1100" dirty="0"/>
                <a:t>Creation of New Products and Services</a:t>
              </a:r>
            </a:p>
          </p:txBody>
        </p:sp>
        <p:sp>
          <p:nvSpPr>
            <p:cNvPr id="27" name="TextBox 26"/>
            <p:cNvSpPr txBox="1"/>
            <p:nvPr/>
          </p:nvSpPr>
          <p:spPr>
            <a:xfrm>
              <a:off x="432738" y="6307926"/>
              <a:ext cx="1600118" cy="261610"/>
            </a:xfrm>
            <a:prstGeom prst="rect">
              <a:avLst/>
            </a:prstGeom>
            <a:noFill/>
          </p:spPr>
          <p:txBody>
            <a:bodyPr wrap="none" rtlCol="0">
              <a:spAutoFit/>
            </a:bodyPr>
            <a:lstStyle/>
            <a:p>
              <a:r>
                <a:rPr lang="en-US" sz="1100" dirty="0"/>
                <a:t>Efficiency Improvements</a:t>
              </a:r>
            </a:p>
          </p:txBody>
        </p:sp>
        <p:sp>
          <p:nvSpPr>
            <p:cNvPr id="28" name="Isosceles Triangle 27"/>
            <p:cNvSpPr/>
            <p:nvPr/>
          </p:nvSpPr>
          <p:spPr>
            <a:xfrm rot="5400000">
              <a:off x="6095174" y="4890842"/>
              <a:ext cx="4559052" cy="414224"/>
            </a:xfrm>
            <a:prstGeom prst="triangle">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ounded Rectangle 28"/>
            <p:cNvSpPr/>
            <p:nvPr/>
          </p:nvSpPr>
          <p:spPr>
            <a:xfrm>
              <a:off x="8704376" y="2816121"/>
              <a:ext cx="2263797" cy="4561359"/>
            </a:xfrm>
            <a:prstGeom prst="roundRect">
              <a:avLst/>
            </a:prstGeom>
            <a:noFill/>
            <a:ln w="63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0" name="TextBox 29"/>
            <p:cNvSpPr txBox="1"/>
            <p:nvPr/>
          </p:nvSpPr>
          <p:spPr>
            <a:xfrm>
              <a:off x="8693226" y="2949229"/>
              <a:ext cx="2274948" cy="496604"/>
            </a:xfrm>
            <a:prstGeom prst="rect">
              <a:avLst/>
            </a:prstGeom>
            <a:noFill/>
          </p:spPr>
          <p:txBody>
            <a:bodyPr wrap="square" rtlCol="0">
              <a:spAutoFit/>
            </a:bodyPr>
            <a:lstStyle/>
            <a:p>
              <a:r>
                <a:rPr lang="en-US" sz="1100" dirty="0"/>
                <a:t>Fulfillment of deeper customer needs</a:t>
              </a:r>
            </a:p>
          </p:txBody>
        </p:sp>
        <p:sp>
          <p:nvSpPr>
            <p:cNvPr id="31" name="TextBox 30"/>
            <p:cNvSpPr txBox="1"/>
            <p:nvPr/>
          </p:nvSpPr>
          <p:spPr>
            <a:xfrm>
              <a:off x="491611" y="31990"/>
              <a:ext cx="10476562" cy="744906"/>
            </a:xfrm>
            <a:prstGeom prst="rect">
              <a:avLst/>
            </a:prstGeom>
            <a:noFill/>
          </p:spPr>
          <p:txBody>
            <a:bodyPr wrap="square" rtlCol="0">
              <a:spAutoFit/>
            </a:bodyPr>
            <a:lstStyle/>
            <a:p>
              <a:pPr marL="687388" indent="-687388"/>
              <a:r>
                <a:rPr lang="en-US" b="1" dirty="0"/>
                <a:t>Step 7: Find ways to utilize information gathered from repeated interactions to improve the Recognize-Request-Respond cycle</a:t>
              </a:r>
            </a:p>
          </p:txBody>
        </p:sp>
      </p:grpSp>
      <p:sp>
        <p:nvSpPr>
          <p:cNvPr id="3" name="Footer Placeholder 2"/>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5568053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3" y="324465"/>
            <a:ext cx="6695768" cy="646331"/>
          </a:xfrm>
          <a:prstGeom prst="rect">
            <a:avLst/>
          </a:prstGeom>
          <a:noFill/>
        </p:spPr>
        <p:txBody>
          <a:bodyPr wrap="square" rtlCol="0">
            <a:spAutoFit/>
          </a:bodyPr>
          <a:lstStyle/>
          <a:p>
            <a:pPr marL="744538" indent="-744538"/>
            <a:r>
              <a:rPr lang="en-US" b="1" dirty="0"/>
              <a:t>Step 8: Assess your data-protection policies to maintain trust with your customers</a:t>
            </a:r>
          </a:p>
        </p:txBody>
      </p:sp>
      <p:graphicFrame>
        <p:nvGraphicFramePr>
          <p:cNvPr id="14" name="Table 13"/>
          <p:cNvGraphicFramePr>
            <a:graphicFrameLocks noGrp="1"/>
          </p:cNvGraphicFramePr>
          <p:nvPr>
            <p:extLst>
              <p:ext uri="{D42A27DB-BD31-4B8C-83A1-F6EECF244321}">
                <p14:modId xmlns:p14="http://schemas.microsoft.com/office/powerpoint/2010/main" val="3754238806"/>
              </p:ext>
            </p:extLst>
          </p:nvPr>
        </p:nvGraphicFramePr>
        <p:xfrm>
          <a:off x="599768" y="1397000"/>
          <a:ext cx="7639664" cy="357124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What procedures</a:t>
                      </a:r>
                      <a:r>
                        <a:rPr lang="en-US" sz="1200" baseline="0" dirty="0"/>
                        <a:t> do we have in place to stay informed about data protection and privacy regulations in all the geographies in which we are active?</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How do we keep</a:t>
                      </a:r>
                      <a:r>
                        <a:rPr lang="en-US" sz="1200" baseline="0" dirty="0"/>
                        <a:t> up with how public opinion is changing with respect to these issues?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How do we currently obtain customer consent? How transparent is it to our customers what happens to their data?</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What do we do to keep the data current and accurate?</a:t>
                      </a:r>
                    </a:p>
                  </a:txBody>
                  <a:tcPr/>
                </a:tc>
                <a:tc>
                  <a:txBody>
                    <a:bodyPr/>
                    <a:lstStyle/>
                    <a:p>
                      <a:endParaRPr lang="en-US" sz="1200" dirty="0"/>
                    </a:p>
                  </a:txBody>
                  <a:tcPr/>
                </a:tc>
                <a:extLst>
                  <a:ext uri="{0D108BD9-81ED-4DB2-BD59-A6C34878D82A}">
                    <a16:rowId xmlns:a16="http://schemas.microsoft.com/office/drawing/2014/main" val="218121306"/>
                  </a:ext>
                </a:extLst>
              </a:tr>
              <a:tr h="370840">
                <a:tc>
                  <a:txBody>
                    <a:bodyPr/>
                    <a:lstStyle/>
                    <a:p>
                      <a:r>
                        <a:rPr lang="en-US" sz="1200" dirty="0"/>
                        <a:t>What are our activities to keep the data safe and under what conditions do we notify customers of any breaches?</a:t>
                      </a:r>
                    </a:p>
                  </a:txBody>
                  <a:tcPr/>
                </a:tc>
                <a:tc>
                  <a:txBody>
                    <a:bodyPr/>
                    <a:lstStyle/>
                    <a:p>
                      <a:endParaRPr lang="en-US" sz="1200" dirty="0"/>
                    </a:p>
                  </a:txBody>
                  <a:tcPr/>
                </a:tc>
                <a:extLst>
                  <a:ext uri="{0D108BD9-81ED-4DB2-BD59-A6C34878D82A}">
                    <a16:rowId xmlns:a16="http://schemas.microsoft.com/office/drawing/2014/main" val="1138389575"/>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4159328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p:cNvSpPr txBox="1"/>
          <p:nvPr/>
        </p:nvSpPr>
        <p:spPr>
          <a:xfrm>
            <a:off x="777087" y="2651083"/>
            <a:ext cx="5833778" cy="1323439"/>
          </a:xfrm>
          <a:prstGeom prst="rect">
            <a:avLst/>
          </a:prstGeom>
          <a:noFill/>
        </p:spPr>
        <p:txBody>
          <a:bodyPr wrap="square" rtlCol="0">
            <a:spAutoFit/>
          </a:bodyPr>
          <a:lstStyle/>
          <a:p>
            <a:pPr lvl="0"/>
            <a:r>
              <a:rPr lang="en-US" sz="8000" b="1" dirty="0"/>
              <a:t>Chapter 10</a:t>
            </a:r>
            <a:endParaRPr lang="en-US" sz="8000" dirty="0"/>
          </a:p>
        </p:txBody>
      </p:sp>
      <p:sp>
        <p:nvSpPr>
          <p:cNvPr id="3" name="TextBox 2"/>
          <p:cNvSpPr txBox="1"/>
          <p:nvPr/>
        </p:nvSpPr>
        <p:spPr>
          <a:xfrm>
            <a:off x="927100" y="4064000"/>
            <a:ext cx="5943600" cy="369332"/>
          </a:xfrm>
          <a:prstGeom prst="rect">
            <a:avLst/>
          </a:prstGeom>
          <a:noFill/>
        </p:spPr>
        <p:txBody>
          <a:bodyPr wrap="square" rtlCol="0">
            <a:spAutoFit/>
          </a:bodyPr>
          <a:lstStyle/>
          <a:p>
            <a:r>
              <a:rPr lang="en-US" dirty="0"/>
              <a:t>(Creating Connected Delivery Models)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937509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783705886"/>
              </p:ext>
            </p:extLst>
          </p:nvPr>
        </p:nvGraphicFramePr>
        <p:xfrm>
          <a:off x="715643" y="1474347"/>
          <a:ext cx="7410634" cy="4118436"/>
        </p:xfrm>
        <a:graphic>
          <a:graphicData uri="http://schemas.openxmlformats.org/drawingml/2006/table">
            <a:tbl>
              <a:tblPr firstRow="1" bandRow="1">
                <a:tableStyleId>{5940675A-B579-460E-94D1-54222C63F5DA}</a:tableStyleId>
              </a:tblPr>
              <a:tblGrid>
                <a:gridCol w="1146994">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tblGrid>
              <a:tr h="716868">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t>Connected </a:t>
                      </a:r>
                    </a:p>
                    <a:p>
                      <a:r>
                        <a:rPr lang="en-US" sz="1400" b="1" dirty="0"/>
                        <a:t>Producer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Retailer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Market Maker</a:t>
                      </a:r>
                    </a:p>
                  </a:txBody>
                  <a:tcPr>
                    <a:lnL w="12700" cap="flat" cmpd="sng" algn="ctr">
                      <a:solidFill>
                        <a:schemeClr val="tx1"/>
                      </a:solidFill>
                      <a:prstDash val="solid"/>
                      <a:round/>
                      <a:headEnd type="none" w="med" len="med"/>
                      <a:tailEnd type="none" w="med" len="med"/>
                    </a:lnL>
                  </a:tcPr>
                </a:tc>
                <a:tc>
                  <a:txBody>
                    <a:bodyPr/>
                    <a:lstStyle/>
                    <a:p>
                      <a:r>
                        <a:rPr lang="en-US" sz="1400" b="1" dirty="0"/>
                        <a:t>Crowd Orchestrator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P2P</a:t>
                      </a:r>
                      <a:r>
                        <a:rPr lang="en-US" sz="1400" b="1" baseline="0" dirty="0"/>
                        <a:t> Network Creator</a:t>
                      </a:r>
                      <a:endParaRPr lang="en-US" sz="1400" b="1" dirty="0"/>
                    </a:p>
                  </a:txBody>
                  <a:tcPr/>
                </a:tc>
                <a:extLst>
                  <a:ext uri="{0D108BD9-81ED-4DB2-BD59-A6C34878D82A}">
                    <a16:rowId xmlns:a16="http://schemas.microsoft.com/office/drawing/2014/main" val="10000"/>
                  </a:ext>
                </a:extLst>
              </a:tr>
              <a:tr h="850392">
                <a:tc>
                  <a:txBody>
                    <a:bodyPr/>
                    <a:lstStyle/>
                    <a:p>
                      <a:r>
                        <a:rPr lang="en-US" sz="1400" b="1" dirty="0"/>
                        <a:t>Respond-to-Desire</a:t>
                      </a:r>
                    </a:p>
                  </a:txBody>
                  <a:tcPr>
                    <a:lnT w="12700" cap="flat" cmpd="sng" algn="ctr">
                      <a:solidFill>
                        <a:schemeClr val="tx1"/>
                      </a:solidFill>
                      <a:prstDash val="solid"/>
                      <a:round/>
                      <a:headEnd type="none" w="med" len="med"/>
                      <a:tailEnd type="none" w="med" len="med"/>
                    </a:lnT>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1"/>
                  </a:ext>
                </a:extLst>
              </a:tr>
              <a:tr h="850392">
                <a:tc>
                  <a:txBody>
                    <a:bodyPr/>
                    <a:lstStyle/>
                    <a:p>
                      <a:r>
                        <a:rPr lang="en-US" sz="1400" b="1" dirty="0"/>
                        <a:t>Curated Offering</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2"/>
                  </a:ext>
                </a:extLst>
              </a:tr>
              <a:tr h="850392">
                <a:tc>
                  <a:txBody>
                    <a:bodyPr/>
                    <a:lstStyle/>
                    <a:p>
                      <a:r>
                        <a:rPr lang="en-US" sz="1400" b="1" dirty="0"/>
                        <a:t>Coach Behavior</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3"/>
                  </a:ext>
                </a:extLst>
              </a:tr>
              <a:tr h="850392">
                <a:tc>
                  <a:txBody>
                    <a:bodyPr/>
                    <a:lstStyle/>
                    <a:p>
                      <a:r>
                        <a:rPr lang="en-US" sz="1400" b="1" dirty="0"/>
                        <a:t>Automatic</a:t>
                      </a:r>
                    </a:p>
                    <a:p>
                      <a:r>
                        <a:rPr lang="en-US" sz="1400" b="1" dirty="0"/>
                        <a:t>Execution</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91613" y="324465"/>
            <a:ext cx="7634664" cy="646331"/>
          </a:xfrm>
          <a:prstGeom prst="rect">
            <a:avLst/>
          </a:prstGeom>
          <a:noFill/>
        </p:spPr>
        <p:txBody>
          <a:bodyPr wrap="square" rtlCol="0">
            <a:spAutoFit/>
          </a:bodyPr>
          <a:lstStyle/>
          <a:p>
            <a:pPr marL="687388" indent="-687388"/>
            <a:r>
              <a:rPr lang="en-US" b="1" dirty="0"/>
              <a:t>Step 1: Use the Connected Strategy Matrix to map your own activities and the activities of your competitors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636989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p:cNvGraphicFramePr>
            <a:graphicFrameLocks noGrp="1"/>
          </p:cNvGraphicFramePr>
          <p:nvPr>
            <p:extLst>
              <p:ext uri="{D42A27DB-BD31-4B8C-83A1-F6EECF244321}">
                <p14:modId xmlns:p14="http://schemas.microsoft.com/office/powerpoint/2010/main" val="2626483530"/>
              </p:ext>
            </p:extLst>
          </p:nvPr>
        </p:nvGraphicFramePr>
        <p:xfrm>
          <a:off x="715643" y="1442802"/>
          <a:ext cx="7410634" cy="4118436"/>
        </p:xfrm>
        <a:graphic>
          <a:graphicData uri="http://schemas.openxmlformats.org/drawingml/2006/table">
            <a:tbl>
              <a:tblPr firstRow="1" bandRow="1">
                <a:tableStyleId>{5940675A-B579-460E-94D1-54222C63F5DA}</a:tableStyleId>
              </a:tblPr>
              <a:tblGrid>
                <a:gridCol w="1146994">
                  <a:extLst>
                    <a:ext uri="{9D8B030D-6E8A-4147-A177-3AD203B41FA5}">
                      <a16:colId xmlns:a16="http://schemas.microsoft.com/office/drawing/2014/main" val="20000"/>
                    </a:ext>
                  </a:extLst>
                </a:gridCol>
                <a:gridCol w="1252728">
                  <a:extLst>
                    <a:ext uri="{9D8B030D-6E8A-4147-A177-3AD203B41FA5}">
                      <a16:colId xmlns:a16="http://schemas.microsoft.com/office/drawing/2014/main" val="20001"/>
                    </a:ext>
                  </a:extLst>
                </a:gridCol>
                <a:gridCol w="1252728">
                  <a:extLst>
                    <a:ext uri="{9D8B030D-6E8A-4147-A177-3AD203B41FA5}">
                      <a16:colId xmlns:a16="http://schemas.microsoft.com/office/drawing/2014/main" val="20002"/>
                    </a:ext>
                  </a:extLst>
                </a:gridCol>
                <a:gridCol w="1252728">
                  <a:extLst>
                    <a:ext uri="{9D8B030D-6E8A-4147-A177-3AD203B41FA5}">
                      <a16:colId xmlns:a16="http://schemas.microsoft.com/office/drawing/2014/main" val="20003"/>
                    </a:ext>
                  </a:extLst>
                </a:gridCol>
                <a:gridCol w="1252728">
                  <a:extLst>
                    <a:ext uri="{9D8B030D-6E8A-4147-A177-3AD203B41FA5}">
                      <a16:colId xmlns:a16="http://schemas.microsoft.com/office/drawing/2014/main" val="20004"/>
                    </a:ext>
                  </a:extLst>
                </a:gridCol>
                <a:gridCol w="1252728">
                  <a:extLst>
                    <a:ext uri="{9D8B030D-6E8A-4147-A177-3AD203B41FA5}">
                      <a16:colId xmlns:a16="http://schemas.microsoft.com/office/drawing/2014/main" val="20005"/>
                    </a:ext>
                  </a:extLst>
                </a:gridCol>
              </a:tblGrid>
              <a:tr h="716868">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t>Connected </a:t>
                      </a:r>
                    </a:p>
                    <a:p>
                      <a:r>
                        <a:rPr lang="en-US" sz="1400" b="1" dirty="0"/>
                        <a:t>Producer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Retailer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r>
                        <a:rPr lang="en-US" sz="1400" b="1" dirty="0"/>
                        <a:t>Connected Market Maker</a:t>
                      </a:r>
                    </a:p>
                  </a:txBody>
                  <a:tcPr>
                    <a:lnL w="12700" cap="flat" cmpd="sng" algn="ctr">
                      <a:solidFill>
                        <a:schemeClr val="tx1"/>
                      </a:solidFill>
                      <a:prstDash val="solid"/>
                      <a:round/>
                      <a:headEnd type="none" w="med" len="med"/>
                      <a:tailEnd type="none" w="med" len="med"/>
                    </a:lnL>
                  </a:tcPr>
                </a:tc>
                <a:tc>
                  <a:txBody>
                    <a:bodyPr/>
                    <a:lstStyle/>
                    <a:p>
                      <a:r>
                        <a:rPr lang="en-US" sz="1400" b="1" dirty="0"/>
                        <a:t>Crowd Orchestrator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P2P</a:t>
                      </a:r>
                      <a:r>
                        <a:rPr lang="en-US" sz="1400" b="1" baseline="0" dirty="0"/>
                        <a:t> Network Creator</a:t>
                      </a:r>
                      <a:endParaRPr lang="en-US" sz="1400" b="1" dirty="0"/>
                    </a:p>
                  </a:txBody>
                  <a:tcPr/>
                </a:tc>
                <a:extLst>
                  <a:ext uri="{0D108BD9-81ED-4DB2-BD59-A6C34878D82A}">
                    <a16:rowId xmlns:a16="http://schemas.microsoft.com/office/drawing/2014/main" val="10000"/>
                  </a:ext>
                </a:extLst>
              </a:tr>
              <a:tr h="850392">
                <a:tc>
                  <a:txBody>
                    <a:bodyPr/>
                    <a:lstStyle/>
                    <a:p>
                      <a:r>
                        <a:rPr lang="en-US" sz="1400" b="1" dirty="0"/>
                        <a:t>Respond-to-Desire</a:t>
                      </a:r>
                    </a:p>
                  </a:txBody>
                  <a:tcPr>
                    <a:lnT w="12700" cap="flat" cmpd="sng" algn="ctr">
                      <a:solidFill>
                        <a:schemeClr val="tx1"/>
                      </a:solidFill>
                      <a:prstDash val="solid"/>
                      <a:round/>
                      <a:headEnd type="none" w="med" len="med"/>
                      <a:tailEnd type="none" w="med" len="med"/>
                    </a:lnT>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1"/>
                  </a:ext>
                </a:extLst>
              </a:tr>
              <a:tr h="850392">
                <a:tc>
                  <a:txBody>
                    <a:bodyPr/>
                    <a:lstStyle/>
                    <a:p>
                      <a:r>
                        <a:rPr lang="en-US" sz="1400" b="1" dirty="0"/>
                        <a:t>Curated Offering</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a:p>
                  </a:txBody>
                  <a:tcPr/>
                </a:tc>
                <a:tc>
                  <a:txBody>
                    <a:bodyPr/>
                    <a:lstStyle/>
                    <a:p>
                      <a:endParaRPr lang="en-US" sz="1400" dirty="0"/>
                    </a:p>
                  </a:txBody>
                  <a:tcPr/>
                </a:tc>
                <a:extLst>
                  <a:ext uri="{0D108BD9-81ED-4DB2-BD59-A6C34878D82A}">
                    <a16:rowId xmlns:a16="http://schemas.microsoft.com/office/drawing/2014/main" val="10002"/>
                  </a:ext>
                </a:extLst>
              </a:tr>
              <a:tr h="850392">
                <a:tc>
                  <a:txBody>
                    <a:bodyPr/>
                    <a:lstStyle/>
                    <a:p>
                      <a:r>
                        <a:rPr lang="en-US" sz="1400" b="1" dirty="0"/>
                        <a:t>Coach Behavior</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3"/>
                  </a:ext>
                </a:extLst>
              </a:tr>
              <a:tr h="850392">
                <a:tc>
                  <a:txBody>
                    <a:bodyPr/>
                    <a:lstStyle/>
                    <a:p>
                      <a:r>
                        <a:rPr lang="en-US" sz="1400" b="1" dirty="0"/>
                        <a:t>Automatic</a:t>
                      </a:r>
                    </a:p>
                    <a:p>
                      <a:r>
                        <a:rPr lang="en-US" sz="1400" b="1" dirty="0"/>
                        <a:t>Execution</a:t>
                      </a:r>
                    </a:p>
                  </a:txBody>
                  <a:tcPr/>
                </a:tc>
                <a:tc>
                  <a:txBody>
                    <a:bodyPr/>
                    <a:lstStyle/>
                    <a:p>
                      <a:endParaRPr lang="en-US" sz="1400" dirty="0"/>
                    </a:p>
                  </a:txBody>
                  <a:tcPr>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en-US" sz="1400" dirty="0"/>
                    </a:p>
                  </a:txBody>
                  <a:tcPr>
                    <a:lnL w="12700" cap="flat" cmpd="sng" algn="ctr">
                      <a:solidFill>
                        <a:schemeClr val="tx1"/>
                      </a:solidFill>
                      <a:prstDash val="solid"/>
                      <a:round/>
                      <a:headEnd type="none" w="med" len="med"/>
                      <a:tailEnd type="none" w="med" len="med"/>
                    </a:lnL>
                  </a:tcPr>
                </a:tc>
                <a:tc>
                  <a:txBody>
                    <a:bodyPr/>
                    <a:lstStyle/>
                    <a:p>
                      <a:endParaRPr lang="en-US" sz="1400" dirty="0"/>
                    </a:p>
                  </a:txBody>
                  <a:tcPr/>
                </a:tc>
                <a:tc>
                  <a:txBody>
                    <a:bodyPr/>
                    <a:lstStyle/>
                    <a:p>
                      <a:endParaRPr lang="en-US" sz="1400"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491612" y="324465"/>
            <a:ext cx="7955927" cy="369332"/>
          </a:xfrm>
          <a:prstGeom prst="rect">
            <a:avLst/>
          </a:prstGeom>
          <a:noFill/>
        </p:spPr>
        <p:txBody>
          <a:bodyPr wrap="square" rtlCol="0">
            <a:spAutoFit/>
          </a:bodyPr>
          <a:lstStyle/>
          <a:p>
            <a:pPr marL="744538" indent="-744538"/>
            <a:r>
              <a:rPr lang="en-US" b="1" dirty="0"/>
              <a:t>Step 2: Use the empty cells in the Connected Strategy Matrix to create new ideas</a:t>
            </a:r>
          </a:p>
        </p:txBody>
      </p:sp>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4557317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91613" y="324465"/>
            <a:ext cx="7657444" cy="923330"/>
          </a:xfrm>
          <a:prstGeom prst="rect">
            <a:avLst/>
          </a:prstGeom>
          <a:noFill/>
        </p:spPr>
        <p:txBody>
          <a:bodyPr wrap="square" rtlCol="0">
            <a:spAutoFit/>
          </a:bodyPr>
          <a:lstStyle/>
          <a:p>
            <a:pPr marL="687388" indent="-687388"/>
            <a:r>
              <a:rPr lang="en-US" b="1" dirty="0"/>
              <a:t>Step 3: Understand your existing revenue model, identify its main limitations and consider alternatives for your current activities as well as for the ideas created above</a:t>
            </a:r>
          </a:p>
        </p:txBody>
      </p:sp>
      <p:graphicFrame>
        <p:nvGraphicFramePr>
          <p:cNvPr id="14" name="Table 13"/>
          <p:cNvGraphicFramePr>
            <a:graphicFrameLocks noGrp="1"/>
          </p:cNvGraphicFramePr>
          <p:nvPr>
            <p:extLst>
              <p:ext uri="{D42A27DB-BD31-4B8C-83A1-F6EECF244321}">
                <p14:modId xmlns:p14="http://schemas.microsoft.com/office/powerpoint/2010/main" val="3192430221"/>
              </p:ext>
            </p:extLst>
          </p:nvPr>
        </p:nvGraphicFramePr>
        <p:xfrm>
          <a:off x="599768" y="1625600"/>
          <a:ext cx="7639664" cy="185420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What does</a:t>
                      </a:r>
                      <a:r>
                        <a:rPr lang="en-US" sz="1200" baseline="0" dirty="0"/>
                        <a:t> the customer pay for?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What are your different</a:t>
                      </a:r>
                      <a:r>
                        <a:rPr lang="en-US" sz="1200" baseline="0" dirty="0"/>
                        <a:t> revenue streams?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r h="370840">
                <a:tc>
                  <a:txBody>
                    <a:bodyPr/>
                    <a:lstStyle/>
                    <a:p>
                      <a:r>
                        <a:rPr lang="en-US" sz="1200" dirty="0"/>
                        <a:t>Who is paying?</a:t>
                      </a:r>
                    </a:p>
                  </a:txBody>
                  <a:tcPr/>
                </a:tc>
                <a:tc>
                  <a:txBody>
                    <a:bodyPr/>
                    <a:lstStyle/>
                    <a:p>
                      <a:endParaRPr lang="en-US" sz="1200" dirty="0"/>
                    </a:p>
                  </a:txBody>
                  <a:tcPr/>
                </a:tc>
                <a:extLst>
                  <a:ext uri="{0D108BD9-81ED-4DB2-BD59-A6C34878D82A}">
                    <a16:rowId xmlns:a16="http://schemas.microsoft.com/office/drawing/2014/main" val="3748427829"/>
                  </a:ext>
                </a:extLst>
              </a:tr>
              <a:tr h="370840">
                <a:tc>
                  <a:txBody>
                    <a:bodyPr/>
                    <a:lstStyle/>
                    <a:p>
                      <a:r>
                        <a:rPr lang="en-US" sz="1200" dirty="0"/>
                        <a:t>When does payment</a:t>
                      </a:r>
                      <a:r>
                        <a:rPr lang="en-US" sz="1200" baseline="0" dirty="0"/>
                        <a:t> occur?</a:t>
                      </a:r>
                      <a:endParaRPr lang="en-US" sz="1200" dirty="0"/>
                    </a:p>
                  </a:txBody>
                  <a:tcPr/>
                </a:tc>
                <a:tc>
                  <a:txBody>
                    <a:bodyPr/>
                    <a:lstStyle/>
                    <a:p>
                      <a:endParaRPr lang="en-US" sz="1200" dirty="0"/>
                    </a:p>
                  </a:txBody>
                  <a:tcPr/>
                </a:tc>
                <a:extLst>
                  <a:ext uri="{0D108BD9-81ED-4DB2-BD59-A6C34878D82A}">
                    <a16:rowId xmlns:a16="http://schemas.microsoft.com/office/drawing/2014/main" val="218121306"/>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4042303328"/>
              </p:ext>
            </p:extLst>
          </p:nvPr>
        </p:nvGraphicFramePr>
        <p:xfrm>
          <a:off x="599768" y="3962400"/>
          <a:ext cx="7639664" cy="2016760"/>
        </p:xfrm>
        <a:graphic>
          <a:graphicData uri="http://schemas.openxmlformats.org/drawingml/2006/table">
            <a:tbl>
              <a:tblPr firstRow="1" bandRow="1">
                <a:tableStyleId>{073A0DAA-6AF3-43AB-8588-CEC1D06C72B9}</a:tableStyleId>
              </a:tblPr>
              <a:tblGrid>
                <a:gridCol w="2900516">
                  <a:extLst>
                    <a:ext uri="{9D8B030D-6E8A-4147-A177-3AD203B41FA5}">
                      <a16:colId xmlns:a16="http://schemas.microsoft.com/office/drawing/2014/main" val="3797692139"/>
                    </a:ext>
                  </a:extLst>
                </a:gridCol>
                <a:gridCol w="4739148">
                  <a:extLst>
                    <a:ext uri="{9D8B030D-6E8A-4147-A177-3AD203B41FA5}">
                      <a16:colId xmlns:a16="http://schemas.microsoft.com/office/drawing/2014/main" val="3402112397"/>
                    </a:ext>
                  </a:extLst>
                </a:gridCol>
              </a:tblGrid>
              <a:tr h="370840">
                <a:tc>
                  <a:txBody>
                    <a:bodyPr/>
                    <a:lstStyle/>
                    <a:p>
                      <a:r>
                        <a:rPr lang="en-US" sz="1200" dirty="0"/>
                        <a:t>Questions</a:t>
                      </a:r>
                    </a:p>
                  </a:txBody>
                  <a:tcPr/>
                </a:tc>
                <a:tc>
                  <a:txBody>
                    <a:bodyPr/>
                    <a:lstStyle/>
                    <a:p>
                      <a:r>
                        <a:rPr lang="en-US" sz="1200" dirty="0"/>
                        <a:t>Answers</a:t>
                      </a:r>
                    </a:p>
                  </a:txBody>
                  <a:tcPr/>
                </a:tc>
                <a:extLst>
                  <a:ext uri="{0D108BD9-81ED-4DB2-BD59-A6C34878D82A}">
                    <a16:rowId xmlns:a16="http://schemas.microsoft.com/office/drawing/2014/main" val="82139284"/>
                  </a:ext>
                </a:extLst>
              </a:tr>
              <a:tr h="370840">
                <a:tc>
                  <a:txBody>
                    <a:bodyPr/>
                    <a:lstStyle/>
                    <a:p>
                      <a:r>
                        <a:rPr lang="en-US" sz="1200" dirty="0"/>
                        <a:t>Next,</a:t>
                      </a:r>
                      <a:r>
                        <a:rPr lang="en-US" sz="1200" baseline="0" dirty="0"/>
                        <a:t> look for inefficiencies in your revenue model. Do you use this revenue model because you believe it is the right one, or are you constrained by connectivity to the customer?</a:t>
                      </a:r>
                      <a:endParaRPr lang="en-US" sz="1200" dirty="0"/>
                    </a:p>
                  </a:txBody>
                  <a:tcPr/>
                </a:tc>
                <a:tc>
                  <a:txBody>
                    <a:bodyPr/>
                    <a:lstStyle/>
                    <a:p>
                      <a:endParaRPr lang="en-US" sz="1200" dirty="0"/>
                    </a:p>
                  </a:txBody>
                  <a:tcPr/>
                </a:tc>
                <a:extLst>
                  <a:ext uri="{0D108BD9-81ED-4DB2-BD59-A6C34878D82A}">
                    <a16:rowId xmlns:a16="http://schemas.microsoft.com/office/drawing/2014/main" val="3101775882"/>
                  </a:ext>
                </a:extLst>
              </a:tr>
              <a:tr h="370840">
                <a:tc>
                  <a:txBody>
                    <a:bodyPr/>
                    <a:lstStyle/>
                    <a:p>
                      <a:r>
                        <a:rPr lang="en-US" sz="1200" dirty="0"/>
                        <a:t>Now that you understand the current revenue model, consider ways for</a:t>
                      </a:r>
                      <a:r>
                        <a:rPr lang="en-US" sz="1200" baseline="0" dirty="0"/>
                        <a:t> considering these inefficiencies</a:t>
                      </a:r>
                      <a:endParaRPr lang="en-US" sz="1200" dirty="0"/>
                    </a:p>
                  </a:txBody>
                  <a:tcPr/>
                </a:tc>
                <a:tc>
                  <a:txBody>
                    <a:bodyPr/>
                    <a:lstStyle/>
                    <a:p>
                      <a:endParaRPr lang="en-US" sz="1200" dirty="0"/>
                    </a:p>
                  </a:txBody>
                  <a:tcPr/>
                </a:tc>
                <a:extLst>
                  <a:ext uri="{0D108BD9-81ED-4DB2-BD59-A6C34878D82A}">
                    <a16:rowId xmlns:a16="http://schemas.microsoft.com/office/drawing/2014/main" val="552316924"/>
                  </a:ext>
                </a:extLst>
              </a:tr>
            </a:tbl>
          </a:graphicData>
        </a:graphic>
      </p:graphicFrame>
      <p:sp>
        <p:nvSpPr>
          <p:cNvPr id="2" name="Footer Placeholder 1"/>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8059834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350440183"/>
              </p:ext>
            </p:extLst>
          </p:nvPr>
        </p:nvGraphicFramePr>
        <p:xfrm>
          <a:off x="457200" y="1717233"/>
          <a:ext cx="8229601" cy="4291897"/>
        </p:xfrm>
        <a:graphic>
          <a:graphicData uri="http://schemas.openxmlformats.org/drawingml/2006/table">
            <a:tbl>
              <a:tblPr firstRow="1" firstCol="1" bandRow="1">
                <a:tableStyleId>{5940675A-B579-460E-94D1-54222C63F5DA}</a:tableStyleId>
              </a:tblPr>
              <a:tblGrid>
                <a:gridCol w="746802">
                  <a:extLst>
                    <a:ext uri="{9D8B030D-6E8A-4147-A177-3AD203B41FA5}">
                      <a16:colId xmlns:a16="http://schemas.microsoft.com/office/drawing/2014/main" val="3530551265"/>
                    </a:ext>
                  </a:extLst>
                </a:gridCol>
                <a:gridCol w="787723">
                  <a:extLst>
                    <a:ext uri="{9D8B030D-6E8A-4147-A177-3AD203B41FA5}">
                      <a16:colId xmlns:a16="http://schemas.microsoft.com/office/drawing/2014/main" val="3025220695"/>
                    </a:ext>
                  </a:extLst>
                </a:gridCol>
                <a:gridCol w="704176">
                  <a:extLst>
                    <a:ext uri="{9D8B030D-6E8A-4147-A177-3AD203B41FA5}">
                      <a16:colId xmlns:a16="http://schemas.microsoft.com/office/drawing/2014/main" val="3700525911"/>
                    </a:ext>
                  </a:extLst>
                </a:gridCol>
                <a:gridCol w="746234">
                  <a:extLst>
                    <a:ext uri="{9D8B030D-6E8A-4147-A177-3AD203B41FA5}">
                      <a16:colId xmlns:a16="http://schemas.microsoft.com/office/drawing/2014/main" val="239501684"/>
                    </a:ext>
                  </a:extLst>
                </a:gridCol>
                <a:gridCol w="749075">
                  <a:extLst>
                    <a:ext uri="{9D8B030D-6E8A-4147-A177-3AD203B41FA5}">
                      <a16:colId xmlns:a16="http://schemas.microsoft.com/office/drawing/2014/main" val="2942365785"/>
                    </a:ext>
                  </a:extLst>
                </a:gridCol>
                <a:gridCol w="746234">
                  <a:extLst>
                    <a:ext uri="{9D8B030D-6E8A-4147-A177-3AD203B41FA5}">
                      <a16:colId xmlns:a16="http://schemas.microsoft.com/office/drawing/2014/main" val="2292451990"/>
                    </a:ext>
                  </a:extLst>
                </a:gridCol>
                <a:gridCol w="746234">
                  <a:extLst>
                    <a:ext uri="{9D8B030D-6E8A-4147-A177-3AD203B41FA5}">
                      <a16:colId xmlns:a16="http://schemas.microsoft.com/office/drawing/2014/main" val="3819246748"/>
                    </a:ext>
                  </a:extLst>
                </a:gridCol>
                <a:gridCol w="758169">
                  <a:extLst>
                    <a:ext uri="{9D8B030D-6E8A-4147-A177-3AD203B41FA5}">
                      <a16:colId xmlns:a16="http://schemas.microsoft.com/office/drawing/2014/main" val="3644454727"/>
                    </a:ext>
                  </a:extLst>
                </a:gridCol>
                <a:gridCol w="716112">
                  <a:extLst>
                    <a:ext uri="{9D8B030D-6E8A-4147-A177-3AD203B41FA5}">
                      <a16:colId xmlns:a16="http://schemas.microsoft.com/office/drawing/2014/main" val="3029072289"/>
                    </a:ext>
                  </a:extLst>
                </a:gridCol>
                <a:gridCol w="764421">
                  <a:extLst>
                    <a:ext uri="{9D8B030D-6E8A-4147-A177-3AD203B41FA5}">
                      <a16:colId xmlns:a16="http://schemas.microsoft.com/office/drawing/2014/main" val="2089480697"/>
                    </a:ext>
                  </a:extLst>
                </a:gridCol>
                <a:gridCol w="764421">
                  <a:extLst>
                    <a:ext uri="{9D8B030D-6E8A-4147-A177-3AD203B41FA5}">
                      <a16:colId xmlns:a16="http://schemas.microsoft.com/office/drawing/2014/main" val="370606149"/>
                    </a:ext>
                  </a:extLst>
                </a:gridCol>
              </a:tblGrid>
              <a:tr h="262688">
                <a:tc>
                  <a:txBody>
                    <a:bodyPr/>
                    <a:lstStyle/>
                    <a:p>
                      <a:pPr marL="0" marR="0" algn="just">
                        <a:lnSpc>
                          <a:spcPct val="107000"/>
                        </a:lnSpc>
                        <a:spcBef>
                          <a:spcPts val="0"/>
                        </a:spcBef>
                        <a:spcAft>
                          <a:spcPts val="0"/>
                        </a:spcAft>
                      </a:pPr>
                      <a:r>
                        <a:rPr lang="en-US" sz="800" b="1" dirty="0">
                          <a:effectLst/>
                        </a:rPr>
                        <a:t> </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Recognize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gridSpan="3">
                  <a:txBody>
                    <a:bodyPr/>
                    <a:lstStyle/>
                    <a:p>
                      <a:pPr marL="0" marR="0" algn="ctr">
                        <a:lnSpc>
                          <a:spcPct val="107000"/>
                        </a:lnSpc>
                        <a:spcBef>
                          <a:spcPts val="0"/>
                        </a:spcBef>
                        <a:spcAft>
                          <a:spcPts val="0"/>
                        </a:spcAft>
                      </a:pPr>
                      <a:r>
                        <a:rPr lang="en-US" sz="800" b="1" dirty="0">
                          <a:effectLst/>
                        </a:rPr>
                        <a:t>Request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800" b="1" dirty="0">
                          <a:effectLst/>
                        </a:rPr>
                        <a:t>Respond</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a:txBody>
                    <a:bodyPr/>
                    <a:lstStyle/>
                    <a:p>
                      <a:pPr marL="0" marR="0" algn="ctr">
                        <a:lnSpc>
                          <a:spcPct val="107000"/>
                        </a:lnSpc>
                        <a:spcBef>
                          <a:spcPts val="0"/>
                        </a:spcBef>
                        <a:spcAft>
                          <a:spcPts val="0"/>
                        </a:spcAft>
                      </a:pPr>
                      <a:r>
                        <a:rPr lang="en-US" sz="800" b="1" dirty="0">
                          <a:effectLst/>
                        </a:rPr>
                        <a:t>Repeat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Connection Architecture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Revenue Model</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150249318"/>
                  </a:ext>
                </a:extLst>
              </a:tr>
              <a:tr h="394032">
                <a:tc>
                  <a:txBody>
                    <a:bodyPr/>
                    <a:lstStyle/>
                    <a:p>
                      <a:pPr marL="0" marR="0" algn="just">
                        <a:lnSpc>
                          <a:spcPct val="107000"/>
                        </a:lnSpc>
                        <a:spcBef>
                          <a:spcPts val="0"/>
                        </a:spcBef>
                        <a:spcAft>
                          <a:spcPts val="0"/>
                        </a:spcAft>
                      </a:pPr>
                      <a:r>
                        <a:rPr lang="en-US" sz="8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Become aware of the need</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Search and decide on option</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Order</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Pay</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Receive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Experience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After sale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Learn and improve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Connect parties in ecosystem</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Monetize customer relationship</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39804434"/>
                  </a:ext>
                </a:extLst>
              </a:tr>
              <a:tr h="876953">
                <a:tc>
                  <a:txBody>
                    <a:bodyPr/>
                    <a:lstStyle/>
                    <a:p>
                      <a:pPr marL="0" marR="0" algn="just">
                        <a:lnSpc>
                          <a:spcPct val="107000"/>
                        </a:lnSpc>
                        <a:spcBef>
                          <a:spcPts val="0"/>
                        </a:spcBef>
                        <a:spcAft>
                          <a:spcPts val="0"/>
                        </a:spcAft>
                      </a:pPr>
                      <a:r>
                        <a:rPr lang="en-US" sz="800" b="1">
                          <a:effectLst/>
                        </a:rPr>
                        <a:t>Sense </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242540470"/>
                  </a:ext>
                </a:extLst>
              </a:tr>
              <a:tr h="788064">
                <a:tc>
                  <a:txBody>
                    <a:bodyPr/>
                    <a:lstStyle/>
                    <a:p>
                      <a:pPr marL="0" marR="0" algn="just">
                        <a:lnSpc>
                          <a:spcPct val="107000"/>
                        </a:lnSpc>
                        <a:spcBef>
                          <a:spcPts val="0"/>
                        </a:spcBef>
                        <a:spcAft>
                          <a:spcPts val="0"/>
                        </a:spcAft>
                      </a:pPr>
                      <a:r>
                        <a:rPr lang="en-US" sz="800" b="1">
                          <a:effectLst/>
                        </a:rPr>
                        <a:t>Transmit</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715734972"/>
                  </a:ext>
                </a:extLst>
              </a:tr>
              <a:tr h="919408">
                <a:tc>
                  <a:txBody>
                    <a:bodyPr/>
                    <a:lstStyle/>
                    <a:p>
                      <a:pPr marL="0" marR="0" algn="just">
                        <a:lnSpc>
                          <a:spcPct val="107000"/>
                        </a:lnSpc>
                        <a:spcBef>
                          <a:spcPts val="0"/>
                        </a:spcBef>
                        <a:spcAft>
                          <a:spcPts val="0"/>
                        </a:spcAft>
                      </a:pPr>
                      <a:r>
                        <a:rPr lang="en-US" sz="800" b="1">
                          <a:effectLst/>
                        </a:rPr>
                        <a:t>Analyze</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09567751"/>
                  </a:ext>
                </a:extLst>
              </a:tr>
              <a:tr h="1050752">
                <a:tc>
                  <a:txBody>
                    <a:bodyPr/>
                    <a:lstStyle/>
                    <a:p>
                      <a:pPr marL="0" marR="0" algn="just">
                        <a:lnSpc>
                          <a:spcPct val="107000"/>
                        </a:lnSpc>
                        <a:spcBef>
                          <a:spcPts val="0"/>
                        </a:spcBef>
                        <a:spcAft>
                          <a:spcPts val="0"/>
                        </a:spcAft>
                      </a:pPr>
                      <a:r>
                        <a:rPr lang="en-US" sz="800" b="1" dirty="0">
                          <a:effectLst/>
                        </a:rPr>
                        <a:t>React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09061449"/>
                  </a:ext>
                </a:extLst>
              </a:tr>
            </a:tbl>
          </a:graphicData>
        </a:graphic>
      </p:graphicFrame>
      <p:sp>
        <p:nvSpPr>
          <p:cNvPr id="3" name="Rectangle 1"/>
          <p:cNvSpPr>
            <a:spLocks noChangeArrowheads="1"/>
          </p:cNvSpPr>
          <p:nvPr/>
        </p:nvSpPr>
        <p:spPr bwMode="auto">
          <a:xfrm>
            <a:off x="457200" y="17176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p:cNvSpPr txBox="1"/>
          <p:nvPr/>
        </p:nvSpPr>
        <p:spPr>
          <a:xfrm>
            <a:off x="491612" y="324465"/>
            <a:ext cx="8121751" cy="646331"/>
          </a:xfrm>
          <a:prstGeom prst="rect">
            <a:avLst/>
          </a:prstGeom>
          <a:noFill/>
        </p:spPr>
        <p:txBody>
          <a:bodyPr wrap="square" rtlCol="0">
            <a:spAutoFit/>
          </a:bodyPr>
          <a:lstStyle/>
          <a:p>
            <a:pPr marL="687388" indent="-687388"/>
            <a:r>
              <a:rPr lang="en-US" b="1" dirty="0"/>
              <a:t>Step 4: Deconstruct your Connected Strategy into technological sub-functions and then catalogue currently used technological solutions for each sub-function</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38030796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457200" y="1717233"/>
          <a:ext cx="8229601" cy="4291897"/>
        </p:xfrm>
        <a:graphic>
          <a:graphicData uri="http://schemas.openxmlformats.org/drawingml/2006/table">
            <a:tbl>
              <a:tblPr firstRow="1" firstCol="1" bandRow="1">
                <a:tableStyleId>{5940675A-B579-460E-94D1-54222C63F5DA}</a:tableStyleId>
              </a:tblPr>
              <a:tblGrid>
                <a:gridCol w="746802">
                  <a:extLst>
                    <a:ext uri="{9D8B030D-6E8A-4147-A177-3AD203B41FA5}">
                      <a16:colId xmlns:a16="http://schemas.microsoft.com/office/drawing/2014/main" val="3530551265"/>
                    </a:ext>
                  </a:extLst>
                </a:gridCol>
                <a:gridCol w="787723">
                  <a:extLst>
                    <a:ext uri="{9D8B030D-6E8A-4147-A177-3AD203B41FA5}">
                      <a16:colId xmlns:a16="http://schemas.microsoft.com/office/drawing/2014/main" val="3025220695"/>
                    </a:ext>
                  </a:extLst>
                </a:gridCol>
                <a:gridCol w="704176">
                  <a:extLst>
                    <a:ext uri="{9D8B030D-6E8A-4147-A177-3AD203B41FA5}">
                      <a16:colId xmlns:a16="http://schemas.microsoft.com/office/drawing/2014/main" val="3700525911"/>
                    </a:ext>
                  </a:extLst>
                </a:gridCol>
                <a:gridCol w="746234">
                  <a:extLst>
                    <a:ext uri="{9D8B030D-6E8A-4147-A177-3AD203B41FA5}">
                      <a16:colId xmlns:a16="http://schemas.microsoft.com/office/drawing/2014/main" val="239501684"/>
                    </a:ext>
                  </a:extLst>
                </a:gridCol>
                <a:gridCol w="749075">
                  <a:extLst>
                    <a:ext uri="{9D8B030D-6E8A-4147-A177-3AD203B41FA5}">
                      <a16:colId xmlns:a16="http://schemas.microsoft.com/office/drawing/2014/main" val="2942365785"/>
                    </a:ext>
                  </a:extLst>
                </a:gridCol>
                <a:gridCol w="746234">
                  <a:extLst>
                    <a:ext uri="{9D8B030D-6E8A-4147-A177-3AD203B41FA5}">
                      <a16:colId xmlns:a16="http://schemas.microsoft.com/office/drawing/2014/main" val="2292451990"/>
                    </a:ext>
                  </a:extLst>
                </a:gridCol>
                <a:gridCol w="746234">
                  <a:extLst>
                    <a:ext uri="{9D8B030D-6E8A-4147-A177-3AD203B41FA5}">
                      <a16:colId xmlns:a16="http://schemas.microsoft.com/office/drawing/2014/main" val="3819246748"/>
                    </a:ext>
                  </a:extLst>
                </a:gridCol>
                <a:gridCol w="758169">
                  <a:extLst>
                    <a:ext uri="{9D8B030D-6E8A-4147-A177-3AD203B41FA5}">
                      <a16:colId xmlns:a16="http://schemas.microsoft.com/office/drawing/2014/main" val="3644454727"/>
                    </a:ext>
                  </a:extLst>
                </a:gridCol>
                <a:gridCol w="716112">
                  <a:extLst>
                    <a:ext uri="{9D8B030D-6E8A-4147-A177-3AD203B41FA5}">
                      <a16:colId xmlns:a16="http://schemas.microsoft.com/office/drawing/2014/main" val="3029072289"/>
                    </a:ext>
                  </a:extLst>
                </a:gridCol>
                <a:gridCol w="764421">
                  <a:extLst>
                    <a:ext uri="{9D8B030D-6E8A-4147-A177-3AD203B41FA5}">
                      <a16:colId xmlns:a16="http://schemas.microsoft.com/office/drawing/2014/main" val="2089480697"/>
                    </a:ext>
                  </a:extLst>
                </a:gridCol>
                <a:gridCol w="764421">
                  <a:extLst>
                    <a:ext uri="{9D8B030D-6E8A-4147-A177-3AD203B41FA5}">
                      <a16:colId xmlns:a16="http://schemas.microsoft.com/office/drawing/2014/main" val="370606149"/>
                    </a:ext>
                  </a:extLst>
                </a:gridCol>
              </a:tblGrid>
              <a:tr h="262688">
                <a:tc>
                  <a:txBody>
                    <a:bodyPr/>
                    <a:lstStyle/>
                    <a:p>
                      <a:pPr marL="0" marR="0" algn="just">
                        <a:lnSpc>
                          <a:spcPct val="107000"/>
                        </a:lnSpc>
                        <a:spcBef>
                          <a:spcPts val="0"/>
                        </a:spcBef>
                        <a:spcAft>
                          <a:spcPts val="0"/>
                        </a:spcAft>
                      </a:pPr>
                      <a:r>
                        <a:rPr lang="en-US" sz="800" b="1" dirty="0">
                          <a:effectLst/>
                        </a:rPr>
                        <a:t> </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Recognize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gridSpan="3">
                  <a:txBody>
                    <a:bodyPr/>
                    <a:lstStyle/>
                    <a:p>
                      <a:pPr marL="0" marR="0" algn="ctr">
                        <a:lnSpc>
                          <a:spcPct val="107000"/>
                        </a:lnSpc>
                        <a:spcBef>
                          <a:spcPts val="0"/>
                        </a:spcBef>
                        <a:spcAft>
                          <a:spcPts val="0"/>
                        </a:spcAft>
                      </a:pPr>
                      <a:r>
                        <a:rPr lang="en-US" sz="800" b="1" dirty="0">
                          <a:effectLst/>
                        </a:rPr>
                        <a:t>Request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gridSpan="3">
                  <a:txBody>
                    <a:bodyPr/>
                    <a:lstStyle/>
                    <a:p>
                      <a:pPr marL="0" marR="0" algn="ctr">
                        <a:lnSpc>
                          <a:spcPct val="107000"/>
                        </a:lnSpc>
                        <a:spcBef>
                          <a:spcPts val="0"/>
                        </a:spcBef>
                        <a:spcAft>
                          <a:spcPts val="0"/>
                        </a:spcAft>
                      </a:pPr>
                      <a:r>
                        <a:rPr lang="en-US" sz="800" b="1" dirty="0">
                          <a:effectLst/>
                        </a:rPr>
                        <a:t>Respond</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hMerge="1">
                  <a:txBody>
                    <a:bodyPr/>
                    <a:lstStyle/>
                    <a:p>
                      <a:endParaRPr lang="en-US"/>
                    </a:p>
                  </a:txBody>
                  <a:tcPr/>
                </a:tc>
                <a:tc hMerge="1">
                  <a:txBody>
                    <a:bodyPr/>
                    <a:lstStyle/>
                    <a:p>
                      <a:endParaRPr lang="en-US"/>
                    </a:p>
                  </a:txBody>
                  <a:tcPr/>
                </a:tc>
                <a:tc>
                  <a:txBody>
                    <a:bodyPr/>
                    <a:lstStyle/>
                    <a:p>
                      <a:pPr marL="0" marR="0" algn="ctr">
                        <a:lnSpc>
                          <a:spcPct val="107000"/>
                        </a:lnSpc>
                        <a:spcBef>
                          <a:spcPts val="0"/>
                        </a:spcBef>
                        <a:spcAft>
                          <a:spcPts val="0"/>
                        </a:spcAft>
                      </a:pPr>
                      <a:r>
                        <a:rPr lang="en-US" sz="800" b="1" dirty="0">
                          <a:effectLst/>
                        </a:rPr>
                        <a:t>Repeat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Connection Architecture</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b="1" dirty="0">
                          <a:effectLst/>
                        </a:rPr>
                        <a:t>Revenue Model</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150249318"/>
                  </a:ext>
                </a:extLst>
              </a:tr>
              <a:tr h="394032">
                <a:tc>
                  <a:txBody>
                    <a:bodyPr/>
                    <a:lstStyle/>
                    <a:p>
                      <a:pPr marL="0" marR="0" algn="just">
                        <a:lnSpc>
                          <a:spcPct val="107000"/>
                        </a:lnSpc>
                        <a:spcBef>
                          <a:spcPts val="0"/>
                        </a:spcBef>
                        <a:spcAft>
                          <a:spcPts val="0"/>
                        </a:spcAft>
                      </a:pPr>
                      <a:r>
                        <a:rPr lang="en-US" sz="8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Become aware of the need</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Search and decide on option</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Order</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Pay</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Receive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Experience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After sale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Learn and improve</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Connect parties in ecosystem</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gn="ctr">
                        <a:lnSpc>
                          <a:spcPct val="107000"/>
                        </a:lnSpc>
                        <a:spcBef>
                          <a:spcPts val="0"/>
                        </a:spcBef>
                        <a:spcAft>
                          <a:spcPts val="0"/>
                        </a:spcAft>
                      </a:pPr>
                      <a:r>
                        <a:rPr lang="en-US" sz="800" i="1" dirty="0">
                          <a:effectLst/>
                        </a:rPr>
                        <a:t>Monetize customer relationship</a:t>
                      </a:r>
                      <a:endParaRPr lang="en-US" sz="1000" i="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39804434"/>
                  </a:ext>
                </a:extLst>
              </a:tr>
              <a:tr h="876953">
                <a:tc>
                  <a:txBody>
                    <a:bodyPr/>
                    <a:lstStyle/>
                    <a:p>
                      <a:pPr marL="0" marR="0" algn="just">
                        <a:lnSpc>
                          <a:spcPct val="107000"/>
                        </a:lnSpc>
                        <a:spcBef>
                          <a:spcPts val="0"/>
                        </a:spcBef>
                        <a:spcAft>
                          <a:spcPts val="0"/>
                        </a:spcAft>
                      </a:pPr>
                      <a:r>
                        <a:rPr lang="en-US" sz="800" b="1">
                          <a:effectLst/>
                        </a:rPr>
                        <a:t>Sense </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4242540470"/>
                  </a:ext>
                </a:extLst>
              </a:tr>
              <a:tr h="788064">
                <a:tc>
                  <a:txBody>
                    <a:bodyPr/>
                    <a:lstStyle/>
                    <a:p>
                      <a:pPr marL="0" marR="0" algn="just">
                        <a:lnSpc>
                          <a:spcPct val="107000"/>
                        </a:lnSpc>
                        <a:spcBef>
                          <a:spcPts val="0"/>
                        </a:spcBef>
                        <a:spcAft>
                          <a:spcPts val="0"/>
                        </a:spcAft>
                      </a:pPr>
                      <a:r>
                        <a:rPr lang="en-US" sz="800" b="1">
                          <a:effectLst/>
                        </a:rPr>
                        <a:t>Transmit</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715734972"/>
                  </a:ext>
                </a:extLst>
              </a:tr>
              <a:tr h="919408">
                <a:tc>
                  <a:txBody>
                    <a:bodyPr/>
                    <a:lstStyle/>
                    <a:p>
                      <a:pPr marL="0" marR="0" algn="just">
                        <a:lnSpc>
                          <a:spcPct val="107000"/>
                        </a:lnSpc>
                        <a:spcBef>
                          <a:spcPts val="0"/>
                        </a:spcBef>
                        <a:spcAft>
                          <a:spcPts val="0"/>
                        </a:spcAft>
                      </a:pPr>
                      <a:r>
                        <a:rPr lang="en-US" sz="800" b="1">
                          <a:effectLst/>
                        </a:rPr>
                        <a:t>Analyze</a:t>
                      </a:r>
                      <a:endParaRPr lang="en-US" sz="1000" b="1">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09567751"/>
                  </a:ext>
                </a:extLst>
              </a:tr>
              <a:tr h="1050752">
                <a:tc>
                  <a:txBody>
                    <a:bodyPr/>
                    <a:lstStyle/>
                    <a:p>
                      <a:pPr marL="0" marR="0" algn="just">
                        <a:lnSpc>
                          <a:spcPct val="107000"/>
                        </a:lnSpc>
                        <a:spcBef>
                          <a:spcPts val="0"/>
                        </a:spcBef>
                        <a:spcAft>
                          <a:spcPts val="0"/>
                        </a:spcAft>
                      </a:pPr>
                      <a:r>
                        <a:rPr lang="en-US" sz="800" b="1" dirty="0">
                          <a:effectLst/>
                        </a:rPr>
                        <a:t>React</a:t>
                      </a:r>
                      <a:endParaRPr lang="en-US"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tc>
                  <a:txBody>
                    <a:bodyPr/>
                    <a:lstStyle/>
                    <a:p>
                      <a:pPr marL="0" marR="0">
                        <a:lnSpc>
                          <a:spcPct val="107000"/>
                        </a:lnSpc>
                        <a:spcBef>
                          <a:spcPts val="0"/>
                        </a:spcBef>
                        <a:spcAft>
                          <a:spcPts val="0"/>
                        </a:spcAft>
                      </a:pP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1381" marR="61381" marT="0" marB="0"/>
                </a:tc>
                <a:extLst>
                  <a:ext uri="{0D108BD9-81ED-4DB2-BD59-A6C34878D82A}">
                    <a16:rowId xmlns:a16="http://schemas.microsoft.com/office/drawing/2014/main" val="2509061449"/>
                  </a:ext>
                </a:extLst>
              </a:tr>
            </a:tbl>
          </a:graphicData>
        </a:graphic>
      </p:graphicFrame>
      <p:sp>
        <p:nvSpPr>
          <p:cNvPr id="3" name="Rectangle 1"/>
          <p:cNvSpPr>
            <a:spLocks noChangeArrowheads="1"/>
          </p:cNvSpPr>
          <p:nvPr/>
        </p:nvSpPr>
        <p:spPr bwMode="auto">
          <a:xfrm>
            <a:off x="457200" y="171767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TextBox 3"/>
          <p:cNvSpPr txBox="1"/>
          <p:nvPr/>
        </p:nvSpPr>
        <p:spPr>
          <a:xfrm>
            <a:off x="491613" y="324465"/>
            <a:ext cx="8195188" cy="646331"/>
          </a:xfrm>
          <a:prstGeom prst="rect">
            <a:avLst/>
          </a:prstGeom>
          <a:noFill/>
        </p:spPr>
        <p:txBody>
          <a:bodyPr wrap="square" rtlCol="0">
            <a:spAutoFit/>
          </a:bodyPr>
          <a:lstStyle/>
          <a:p>
            <a:pPr marL="687388" indent="-687388"/>
            <a:r>
              <a:rPr lang="en-US" b="1" dirty="0"/>
              <a:t>Step 5: Identify new technological solutions and how those might enable further innovations in your Connected Strategy not identified so far</a:t>
            </a:r>
          </a:p>
        </p:txBody>
      </p:sp>
      <p:sp>
        <p:nvSpPr>
          <p:cNvPr id="5" name="Footer Placeholder 4"/>
          <p:cNvSpPr>
            <a:spLocks noGrp="1"/>
          </p:cNvSpPr>
          <p:nvPr>
            <p:ph type="ftr" sz="quarter" idx="11"/>
          </p:nvPr>
        </p:nvSpPr>
        <p:spPr/>
        <p:txBody>
          <a:bodyPr/>
          <a:lstStyle/>
          <a:p>
            <a:r>
              <a:rPr lang="en-US"/>
              <a:t>© Siggelkow &amp; Terwiesch (2019)</a:t>
            </a:r>
          </a:p>
        </p:txBody>
      </p:sp>
    </p:spTree>
    <p:extLst>
      <p:ext uri="{BB962C8B-B14F-4D97-AF65-F5344CB8AC3E}">
        <p14:creationId xmlns:p14="http://schemas.microsoft.com/office/powerpoint/2010/main" val="2859019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54163</TotalTime>
  <Words>1757</Words>
  <Application>Microsoft Office PowerPoint</Application>
  <PresentationFormat>On-screen Show (4:3)</PresentationFormat>
  <Paragraphs>285</Paragraphs>
  <Slides>23</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Worksheets  from  Siggelkow &amp; Terwiesch   Connected Strategy  (HBR Press, 2019)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Pennsylvania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Nicolaj Siggelkow</dc:creator>
  <cp:lastModifiedBy>Rodrigo Perusquía</cp:lastModifiedBy>
  <cp:revision>197</cp:revision>
  <cp:lastPrinted>2018-01-24T19:19:32Z</cp:lastPrinted>
  <dcterms:created xsi:type="dcterms:W3CDTF">2017-07-05T18:49:55Z</dcterms:created>
  <dcterms:modified xsi:type="dcterms:W3CDTF">2026-04-21T13:28:13Z</dcterms:modified>
</cp:coreProperties>
</file>